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8" r:id="rId13"/>
    <p:sldId id="280" r:id="rId14"/>
    <p:sldId id="276" r:id="rId15"/>
    <p:sldId id="277" r:id="rId16"/>
  </p:sldIdLst>
  <p:sldSz cx="14630400" cy="8229600"/>
  <p:notesSz cx="8229600" cy="14630400"/>
  <p:embeddedFontLst>
    <p:embeddedFont>
      <p:font typeface="Wingdings 3" panose="05040102010807070707" pitchFamily="18" charset="2"/>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047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813833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615064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576558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3792108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936220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89992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4159750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49241085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389169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232730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panose="020B0604020202020204" pitchFamily="34" charset="0"/>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panose="020B0604020202020204" pitchFamily="34" charset="0"/>
              </a:rPr>
              <a:t>”</a:t>
            </a:r>
            <a:endParaRPr lang="en-US" sz="2160" dirty="0">
              <a:solidFill>
                <a:schemeClr val="accent1">
                  <a:lumMod val="60000"/>
                  <a:lumOff val="40000"/>
                </a:schemeClr>
              </a:solidFill>
              <a:latin typeface="Arial" panose="020B0604020202020204" pitchFamily="34" charset="0"/>
            </a:endParaRPr>
          </a:p>
        </p:txBody>
      </p:sp>
    </p:spTree>
    <p:extLst>
      <p:ext uri="{BB962C8B-B14F-4D97-AF65-F5344CB8AC3E}">
        <p14:creationId xmlns:p14="http://schemas.microsoft.com/office/powerpoint/2010/main" val="1083913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6869136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panose="020B0604020202020204" pitchFamily="34" charset="0"/>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panose="020B0604020202020204" pitchFamily="34" charset="0"/>
              </a:rPr>
              <a:t>”</a:t>
            </a:r>
          </a:p>
        </p:txBody>
      </p:sp>
    </p:spTree>
    <p:extLst>
      <p:ext uri="{BB962C8B-B14F-4D97-AF65-F5344CB8AC3E}">
        <p14:creationId xmlns:p14="http://schemas.microsoft.com/office/powerpoint/2010/main" val="5069606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4339868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52590615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645174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385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210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8897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692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348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616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703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392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0071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44609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99699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2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45399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2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050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latin typeface="Arial" panose="020B0604020202020204" pitchFamily="34" charset="0"/>
              </a:defRPr>
            </a:lvl1p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latin typeface="Arial" panose="020B0604020202020204" pitchFamily="34" charset="0"/>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56040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9" r:id="rId28"/>
    <p:sldLayoutId id="2147483710" r:id="rId29"/>
  </p:sldLayoutIdLst>
  <p:hf sldNum="0" hdr="0" ftr="0" dt="0"/>
  <p:txStyles>
    <p:titleStyle>
      <a:lvl1pPr algn="l" defTabSz="548640" rtl="0" eaLnBrk="1" latinLnBrk="0" hangingPunct="1">
        <a:spcBef>
          <a:spcPct val="0"/>
        </a:spcBef>
        <a:buNone/>
        <a:defRPr sz="4320" kern="1200">
          <a:solidFill>
            <a:schemeClr val="accent1"/>
          </a:solidFill>
          <a:latin typeface="Arial" panose="020B06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Arial" panose="020B0604020202020204" pitchFamily="34" charset="0"/>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Arial" panose="020B0604020202020204" pitchFamily="34" charset="0"/>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Arial" panose="020B0604020202020204" pitchFamily="34" charset="0"/>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Arial" panose="020B0604020202020204" pitchFamily="34" charset="0"/>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Arial" panose="020B0604020202020204" pitchFamily="34" charset="0"/>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8.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1.svg"/><Relationship Id="rId4" Type="http://schemas.openxmlformats.org/officeDocument/2006/relationships/image" Target="../media/image11.sv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894658" y="2789692"/>
            <a:ext cx="4856321" cy="354330"/>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Arial" panose="020B0604020202020204" pitchFamily="34" charset="0"/>
                <a:ea typeface="Inter Bold" pitchFamily="34" charset="-122"/>
                <a:cs typeface="Arial" panose="020B0604020202020204" pitchFamily="34" charset="0"/>
              </a:rPr>
              <a:t>THỰC TẬP ĐỒ ÁN CHUYÊN NGÀNH</a:t>
            </a:r>
            <a:endParaRPr lang="en-US" sz="2200" dirty="0">
              <a:latin typeface="Arial" panose="020B0604020202020204" pitchFamily="34" charset="0"/>
            </a:endParaRPr>
          </a:p>
        </p:txBody>
      </p:sp>
      <p:sp>
        <p:nvSpPr>
          <p:cNvPr id="3" name="Text 1"/>
          <p:cNvSpPr/>
          <p:nvPr/>
        </p:nvSpPr>
        <p:spPr>
          <a:xfrm>
            <a:off x="801409" y="3144022"/>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HỌC KỲ I, NĂM HỌC 2025-2026</a:t>
            </a:r>
            <a:endParaRPr lang="en-US" sz="1750" dirty="0">
              <a:latin typeface="Arial" panose="020B0604020202020204" pitchFamily="34" charset="0"/>
            </a:endParaRPr>
          </a:p>
        </p:txBody>
      </p:sp>
      <p:sp>
        <p:nvSpPr>
          <p:cNvPr id="4" name="Text 2"/>
          <p:cNvSpPr/>
          <p:nvPr/>
        </p:nvSpPr>
        <p:spPr>
          <a:xfrm>
            <a:off x="196770" y="3621247"/>
            <a:ext cx="14132688" cy="1417558"/>
          </a:xfrm>
          <a:prstGeom prst="rect">
            <a:avLst/>
          </a:prstGeom>
          <a:noFill/>
          <a:ln/>
        </p:spPr>
        <p:txBody>
          <a:bodyPr wrap="square" lIns="0" tIns="0" rIns="0" bIns="0" rtlCol="0" anchor="t"/>
          <a:lstStyle/>
          <a:p>
            <a:pPr marL="0" indent="0" algn="ctr">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PHÁT TRIỂN GIAO DIỆN FRONTEND CHO NỀN TẢNG HỌC TRỰC TUYẾN CÓ YẾU TỐ TRÒ CHƠI</a:t>
            </a:r>
            <a:endParaRPr lang="en-US" sz="4450" dirty="0">
              <a:latin typeface="Arial" panose="020B0604020202020204" pitchFamily="34" charset="0"/>
            </a:endParaRPr>
          </a:p>
        </p:txBody>
      </p:sp>
      <p:sp>
        <p:nvSpPr>
          <p:cNvPr id="5" name="Shape 3"/>
          <p:cNvSpPr/>
          <p:nvPr/>
        </p:nvSpPr>
        <p:spPr>
          <a:xfrm>
            <a:off x="793790" y="5395525"/>
            <a:ext cx="13042821" cy="35957"/>
          </a:xfrm>
          <a:prstGeom prst="rect">
            <a:avLst/>
          </a:prstGeom>
          <a:solidFill>
            <a:srgbClr val="272525">
              <a:alpha val="50000"/>
            </a:srgbClr>
          </a:solidFill>
          <a:ln/>
        </p:spPr>
      </p:sp>
      <p:sp>
        <p:nvSpPr>
          <p:cNvPr id="6" name="Text 4"/>
          <p:cNvSpPr/>
          <p:nvPr/>
        </p:nvSpPr>
        <p:spPr>
          <a:xfrm>
            <a:off x="793790" y="59134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rial" panose="020B0604020202020204" pitchFamily="34" charset="0"/>
                <a:ea typeface="Inter Bold" pitchFamily="34" charset="-122"/>
                <a:cs typeface="Arial" panose="020B0604020202020204" pitchFamily="34" charset="0"/>
              </a:rPr>
              <a:t>Giáo viên hướng dẫn</a:t>
            </a:r>
            <a:endParaRPr lang="en-US" sz="2200" dirty="0">
              <a:latin typeface="Arial" panose="020B0604020202020204" pitchFamily="34" charset="0"/>
            </a:endParaRPr>
          </a:p>
        </p:txBody>
      </p:sp>
      <p:sp>
        <p:nvSpPr>
          <p:cNvPr id="7" name="Text 5"/>
          <p:cNvSpPr/>
          <p:nvPr/>
        </p:nvSpPr>
        <p:spPr>
          <a:xfrm>
            <a:off x="793790" y="6494558"/>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ThS. Nguyễn Ngọc Đan Thanh</a:t>
            </a:r>
            <a:endParaRPr lang="en-US" sz="1750" dirty="0">
              <a:latin typeface="Arial" panose="020B0604020202020204" pitchFamily="34" charset="0"/>
            </a:endParaRPr>
          </a:p>
        </p:txBody>
      </p:sp>
      <p:sp>
        <p:nvSpPr>
          <p:cNvPr id="8" name="Text 6"/>
          <p:cNvSpPr/>
          <p:nvPr/>
        </p:nvSpPr>
        <p:spPr>
          <a:xfrm>
            <a:off x="7599521" y="59134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rial" panose="020B0604020202020204" pitchFamily="34" charset="0"/>
                <a:ea typeface="Inter Bold" pitchFamily="34" charset="-122"/>
                <a:cs typeface="Arial" panose="020B0604020202020204" pitchFamily="34" charset="0"/>
              </a:rPr>
              <a:t>Sinh viên thực hiện:</a:t>
            </a:r>
            <a:endParaRPr lang="en-US" sz="2200" dirty="0">
              <a:latin typeface="Arial" panose="020B0604020202020204" pitchFamily="34" charset="0"/>
            </a:endParaRPr>
          </a:p>
        </p:txBody>
      </p:sp>
      <p:sp>
        <p:nvSpPr>
          <p:cNvPr id="9" name="Text 7"/>
          <p:cNvSpPr/>
          <p:nvPr/>
        </p:nvSpPr>
        <p:spPr>
          <a:xfrm>
            <a:off x="7599521" y="6494558"/>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Nguyễn Huỳnh Phú Vinh</a:t>
            </a:r>
            <a:endParaRPr lang="en-US" sz="1750" dirty="0">
              <a:latin typeface="Arial" panose="020B0604020202020204" pitchFamily="34" charset="0"/>
            </a:endParaRPr>
          </a:p>
        </p:txBody>
      </p:sp>
      <p:sp>
        <p:nvSpPr>
          <p:cNvPr id="10" name="Text 8"/>
          <p:cNvSpPr/>
          <p:nvPr/>
        </p:nvSpPr>
        <p:spPr>
          <a:xfrm>
            <a:off x="7599521" y="7061533"/>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MSSV: 110122203</a:t>
            </a:r>
            <a:endParaRPr lang="en-US" sz="1750" dirty="0">
              <a:latin typeface="Arial" panose="020B0604020202020204" pitchFamily="34" charset="0"/>
            </a:endParaRPr>
          </a:p>
        </p:txBody>
      </p:sp>
      <p:sp>
        <p:nvSpPr>
          <p:cNvPr id="11" name="Text 9"/>
          <p:cNvSpPr/>
          <p:nvPr/>
        </p:nvSpPr>
        <p:spPr>
          <a:xfrm>
            <a:off x="7599521" y="762850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Lớp: DA22TTC</a:t>
            </a:r>
            <a:endParaRPr lang="en-US" sz="1750" dirty="0">
              <a:latin typeface="Arial" panose="020B0604020202020204" pitchFamily="34" charset="0"/>
            </a:endParaRPr>
          </a:p>
        </p:txBody>
      </p:sp>
      <p:sp>
        <p:nvSpPr>
          <p:cNvPr id="13" name="TextBox 12">
            <a:extLst>
              <a:ext uri="{FF2B5EF4-FFF2-40B4-BE49-F238E27FC236}">
                <a16:creationId xmlns:a16="http://schemas.microsoft.com/office/drawing/2014/main" id="{25B40CBC-3D93-9E6B-DF4E-E83FDF2B91E1}"/>
              </a:ext>
            </a:extLst>
          </p:cNvPr>
          <p:cNvSpPr txBox="1"/>
          <p:nvPr/>
        </p:nvSpPr>
        <p:spPr>
          <a:xfrm>
            <a:off x="4414995" y="266931"/>
            <a:ext cx="5469960" cy="800219"/>
          </a:xfrm>
          <a:prstGeom prst="rect">
            <a:avLst/>
          </a:prstGeom>
          <a:noFill/>
        </p:spPr>
        <p:txBody>
          <a:bodyPr wrap="square" rtlCol="0">
            <a:spAutoFit/>
          </a:bodyPr>
          <a:lstStyle/>
          <a:p>
            <a:pPr algn="ctr"/>
            <a:r>
              <a:rPr lang="en-US" sz="2300" dirty="0">
                <a:latin typeface="Arial" panose="020B0604020202020204" pitchFamily="34" charset="0"/>
                <a:cs typeface="Arial" panose="020B0604020202020204" pitchFamily="34" charset="0"/>
              </a:rPr>
              <a:t>TRƯỜNG KỸ THUẬT VÀ CÔNG NGHỆ</a:t>
            </a:r>
          </a:p>
          <a:p>
            <a:pPr algn="ctr"/>
            <a:r>
              <a:rPr lang="en-US" sz="2300" b="1" dirty="0">
                <a:latin typeface="Arial" panose="020B0604020202020204" pitchFamily="34" charset="0"/>
                <a:cs typeface="Arial" panose="020B0604020202020204" pitchFamily="34" charset="0"/>
              </a:rPr>
              <a:t>KHOA CÔNG NGHỆ THÔNG TIN</a:t>
            </a:r>
            <a:endParaRPr lang="en-US" sz="2300" dirty="0">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015A10F4-FC22-345F-8D20-1A51D29187B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466" y="1434500"/>
            <a:ext cx="914400" cy="895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64973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Giới thiệu Đề tài</a:t>
            </a:r>
            <a:endParaRPr lang="en-US" sz="4450" dirty="0">
              <a:latin typeface="Arial" panose="020B0604020202020204" pitchFamily="34" charset="0"/>
            </a:endParaRPr>
          </a:p>
        </p:txBody>
      </p:sp>
      <p:sp>
        <p:nvSpPr>
          <p:cNvPr id="3" name="Shape 1"/>
          <p:cNvSpPr/>
          <p:nvPr/>
        </p:nvSpPr>
        <p:spPr>
          <a:xfrm>
            <a:off x="793790" y="2812137"/>
            <a:ext cx="510302" cy="510302"/>
          </a:xfrm>
          <a:prstGeom prst="roundRect">
            <a:avLst>
              <a:gd name="adj" fmla="val 18669"/>
            </a:avLst>
          </a:prstGeom>
          <a:solidFill>
            <a:srgbClr val="DADBF1"/>
          </a:solidFill>
          <a:ln w="7620">
            <a:solidFill>
              <a:srgbClr val="C0C1D7"/>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60" y="2897148"/>
            <a:ext cx="340162" cy="340162"/>
          </a:xfrm>
          <a:prstGeom prst="rect">
            <a:avLst/>
          </a:prstGeom>
        </p:spPr>
      </p:pic>
      <p:sp>
        <p:nvSpPr>
          <p:cNvPr id="5" name="Text 2"/>
          <p:cNvSpPr/>
          <p:nvPr/>
        </p:nvSpPr>
        <p:spPr>
          <a:xfrm>
            <a:off x="1530906" y="2890004"/>
            <a:ext cx="337077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Nền tảng Học trực tuyến</a:t>
            </a:r>
            <a:endParaRPr lang="en-US" sz="2200" dirty="0">
              <a:latin typeface="Arial" panose="020B0604020202020204" pitchFamily="34" charset="0"/>
            </a:endParaRPr>
          </a:p>
        </p:txBody>
      </p:sp>
      <p:sp>
        <p:nvSpPr>
          <p:cNvPr id="6" name="Text 3"/>
          <p:cNvSpPr/>
          <p:nvPr/>
        </p:nvSpPr>
        <p:spPr>
          <a:xfrm>
            <a:off x="1530906" y="3380423"/>
            <a:ext cx="564249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Công cụ không thể thiếu nhằm đáp ứng yêu cầu đổi mới phương pháp giảng dạy, mở rộng cơ hội tiếp cận tri thức cho mọi đối tượng người học</a:t>
            </a:r>
            <a:endParaRPr lang="en-US" sz="1750" dirty="0">
              <a:latin typeface="Arial" panose="020B0604020202020204" pitchFamily="34" charset="0"/>
            </a:endParaRPr>
          </a:p>
        </p:txBody>
      </p:sp>
      <p:sp>
        <p:nvSpPr>
          <p:cNvPr id="7" name="Shape 4"/>
          <p:cNvSpPr/>
          <p:nvPr/>
        </p:nvSpPr>
        <p:spPr>
          <a:xfrm>
            <a:off x="7456884" y="2812137"/>
            <a:ext cx="510302" cy="510302"/>
          </a:xfrm>
          <a:prstGeom prst="roundRect">
            <a:avLst>
              <a:gd name="adj" fmla="val 18669"/>
            </a:avLst>
          </a:prstGeom>
          <a:solidFill>
            <a:srgbClr val="DADBF1"/>
          </a:solidFill>
          <a:ln w="7620">
            <a:solidFill>
              <a:srgbClr val="C0C1D7"/>
            </a:solidFill>
            <a:prstDash val="solid"/>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41955" y="2897148"/>
            <a:ext cx="340162" cy="340162"/>
          </a:xfrm>
          <a:prstGeom prst="rect">
            <a:avLst/>
          </a:prstGeom>
        </p:spPr>
      </p:pic>
      <p:sp>
        <p:nvSpPr>
          <p:cNvPr id="9" name="Text 5"/>
          <p:cNvSpPr/>
          <p:nvPr/>
        </p:nvSpPr>
        <p:spPr>
          <a:xfrm>
            <a:off x="8194000" y="289000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Thách thức</a:t>
            </a:r>
            <a:endParaRPr lang="en-US" sz="2200" dirty="0">
              <a:latin typeface="Arial" panose="020B0604020202020204" pitchFamily="34" charset="0"/>
            </a:endParaRPr>
          </a:p>
        </p:txBody>
      </p:sp>
      <p:sp>
        <p:nvSpPr>
          <p:cNvPr id="10" name="Text 6"/>
          <p:cNvSpPr/>
          <p:nvPr/>
        </p:nvSpPr>
        <p:spPr>
          <a:xfrm>
            <a:off x="8194000" y="338042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Giữ chân học viên, duy trì động lực, đảm bảo hiệu quả đào tạo; sự thiếu hứng thú, giảm tính tương tác dẫn tới kết quả học tập không như mong muốn</a:t>
            </a:r>
            <a:endParaRPr lang="en-US" sz="1750" dirty="0">
              <a:latin typeface="Arial" panose="020B0604020202020204" pitchFamily="34" charset="0"/>
            </a:endParaRPr>
          </a:p>
        </p:txBody>
      </p:sp>
      <p:sp>
        <p:nvSpPr>
          <p:cNvPr id="11" name="Shape 7"/>
          <p:cNvSpPr/>
          <p:nvPr/>
        </p:nvSpPr>
        <p:spPr>
          <a:xfrm>
            <a:off x="793790" y="4922758"/>
            <a:ext cx="510302" cy="510302"/>
          </a:xfrm>
          <a:prstGeom prst="roundRect">
            <a:avLst>
              <a:gd name="adj" fmla="val 18669"/>
            </a:avLst>
          </a:prstGeom>
          <a:solidFill>
            <a:srgbClr val="DADBF1"/>
          </a:solidFill>
          <a:ln w="7620">
            <a:solidFill>
              <a:srgbClr val="C0C1D7"/>
            </a:solidFill>
            <a:prstDash val="solid"/>
          </a:ln>
        </p:spPr>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8860" y="5007769"/>
            <a:ext cx="340162" cy="340162"/>
          </a:xfrm>
          <a:prstGeom prst="rect">
            <a:avLst/>
          </a:prstGeom>
        </p:spPr>
      </p:pic>
      <p:sp>
        <p:nvSpPr>
          <p:cNvPr id="13" name="Text 8"/>
          <p:cNvSpPr/>
          <p:nvPr/>
        </p:nvSpPr>
        <p:spPr>
          <a:xfrm>
            <a:off x="1530906" y="50006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Giải pháp</a:t>
            </a:r>
            <a:endParaRPr lang="en-US" sz="2200" dirty="0">
              <a:latin typeface="Arial" panose="020B0604020202020204" pitchFamily="34" charset="0"/>
            </a:endParaRPr>
          </a:p>
        </p:txBody>
      </p:sp>
      <p:sp>
        <p:nvSpPr>
          <p:cNvPr id="14" name="Text 9"/>
          <p:cNvSpPr/>
          <p:nvPr/>
        </p:nvSpPr>
        <p:spPr>
          <a:xfrm>
            <a:off x="1530906" y="5491043"/>
            <a:ext cx="564249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Tích hợp yếu tố trò </a:t>
            </a:r>
            <a:r>
              <a:rPr lang="en-US" sz="1750" dirty="0" err="1">
                <a:solidFill>
                  <a:srgbClr val="272525"/>
                </a:solidFill>
                <a:latin typeface="Arial" panose="020B0604020202020204" pitchFamily="34" charset="0"/>
                <a:ea typeface="Inter" pitchFamily="34" charset="-122"/>
                <a:cs typeface="Arial" panose="020B0604020202020204" pitchFamily="34" charset="0"/>
              </a:rPr>
              <a:t>chơi</a:t>
            </a:r>
            <a:r>
              <a:rPr lang="en-US" sz="1750" dirty="0">
                <a:solidFill>
                  <a:srgbClr val="272525"/>
                </a:solidFill>
                <a:latin typeface="Arial" panose="020B0604020202020204" pitchFamily="34" charset="0"/>
                <a:ea typeface="Inter" pitchFamily="34" charset="-122"/>
                <a:cs typeface="Arial" panose="020B0604020202020204" pitchFamily="34" charset="0"/>
              </a:rPr>
              <a:t> </a:t>
            </a:r>
            <a:r>
              <a:rPr lang="en-US" sz="1750" dirty="0" err="1">
                <a:solidFill>
                  <a:srgbClr val="272525"/>
                </a:solidFill>
                <a:latin typeface="Arial" panose="020B0604020202020204" pitchFamily="34" charset="0"/>
                <a:ea typeface="Inter" pitchFamily="34" charset="-122"/>
                <a:cs typeface="Arial" panose="020B0604020202020204" pitchFamily="34" charset="0"/>
              </a:rPr>
              <a:t>vào</a:t>
            </a:r>
            <a:r>
              <a:rPr lang="en-US" sz="1750" dirty="0">
                <a:solidFill>
                  <a:srgbClr val="272525"/>
                </a:solidFill>
                <a:latin typeface="Arial" panose="020B0604020202020204" pitchFamily="34" charset="0"/>
                <a:ea typeface="Inter" pitchFamily="34" charset="-122"/>
                <a:cs typeface="Arial" panose="020B0604020202020204" pitchFamily="34" charset="0"/>
              </a:rPr>
              <a:t> giao diện người dùng để tạo động lực</a:t>
            </a:r>
            <a:endParaRPr lang="en-US" sz="1750" dirty="0">
              <a:latin typeface="Arial" panose="020B0604020202020204" pitchFamily="34" charset="0"/>
            </a:endParaRPr>
          </a:p>
        </p:txBody>
      </p:sp>
      <p:sp>
        <p:nvSpPr>
          <p:cNvPr id="15" name="Shape 10"/>
          <p:cNvSpPr/>
          <p:nvPr/>
        </p:nvSpPr>
        <p:spPr>
          <a:xfrm>
            <a:off x="7456884" y="4922758"/>
            <a:ext cx="510302" cy="510302"/>
          </a:xfrm>
          <a:prstGeom prst="roundRect">
            <a:avLst>
              <a:gd name="adj" fmla="val 18669"/>
            </a:avLst>
          </a:prstGeom>
          <a:solidFill>
            <a:srgbClr val="DADBF1"/>
          </a:solidFill>
          <a:ln w="7620">
            <a:solidFill>
              <a:srgbClr val="C0C1D7"/>
            </a:solidFill>
            <a:prstDash val="solid"/>
          </a:ln>
        </p:spPr>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41955" y="5007769"/>
            <a:ext cx="340162" cy="340162"/>
          </a:xfrm>
          <a:prstGeom prst="rect">
            <a:avLst/>
          </a:prstGeom>
        </p:spPr>
      </p:pic>
      <p:sp>
        <p:nvSpPr>
          <p:cNvPr id="17" name="Text 11"/>
          <p:cNvSpPr/>
          <p:nvPr/>
        </p:nvSpPr>
        <p:spPr>
          <a:xfrm>
            <a:off x="8194000" y="50006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Lợi ích</a:t>
            </a:r>
            <a:endParaRPr lang="en-US" sz="2200" dirty="0">
              <a:latin typeface="Arial" panose="020B0604020202020204" pitchFamily="34" charset="0"/>
            </a:endParaRPr>
          </a:p>
        </p:txBody>
      </p:sp>
      <p:sp>
        <p:nvSpPr>
          <p:cNvPr id="18" name="Text 12"/>
          <p:cNvSpPr/>
          <p:nvPr/>
        </p:nvSpPr>
        <p:spPr>
          <a:xfrm>
            <a:off x="8194000" y="549104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Tăng sự hấp dẫn, tạo động lực học tập, tạo môi trường cạnh tranh lành mạnh, khuyến khích sinh viên phát triển bản thân</a:t>
            </a:r>
            <a:endParaRPr lang="en-US" sz="175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16216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Cấu trúc Chức năng</a:t>
            </a:r>
            <a:endParaRPr lang="en-US" sz="4450" dirty="0">
              <a:latin typeface="Arial" panose="020B0604020202020204" pitchFamily="34" charset="0"/>
            </a:endParaRPr>
          </a:p>
        </p:txBody>
      </p:sp>
      <p:sp>
        <p:nvSpPr>
          <p:cNvPr id="3" name="Shape 1"/>
          <p:cNvSpPr/>
          <p:nvPr/>
        </p:nvSpPr>
        <p:spPr>
          <a:xfrm>
            <a:off x="1133951" y="2891552"/>
            <a:ext cx="6067663" cy="226814"/>
          </a:xfrm>
          <a:prstGeom prst="roundRect">
            <a:avLst>
              <a:gd name="adj" fmla="val 42003"/>
            </a:avLst>
          </a:prstGeom>
          <a:solidFill>
            <a:srgbClr val="DADBF1"/>
          </a:solidFill>
          <a:ln w="7620">
            <a:solidFill>
              <a:srgbClr val="C0C1D7"/>
            </a:solidFill>
            <a:prstDash val="solid"/>
          </a:ln>
        </p:spPr>
      </p:sp>
      <p:sp>
        <p:nvSpPr>
          <p:cNvPr id="4" name="Shape 2"/>
          <p:cNvSpPr/>
          <p:nvPr/>
        </p:nvSpPr>
        <p:spPr>
          <a:xfrm>
            <a:off x="793790" y="2664678"/>
            <a:ext cx="680442" cy="680442"/>
          </a:xfrm>
          <a:prstGeom prst="roundRect">
            <a:avLst>
              <a:gd name="adj" fmla="val 67192"/>
            </a:avLst>
          </a:prstGeom>
          <a:solidFill>
            <a:srgbClr val="DADBF1"/>
          </a:solidFill>
          <a:ln w="7620">
            <a:solidFill>
              <a:srgbClr val="C0C1D7"/>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930" y="2834819"/>
            <a:ext cx="340162" cy="340162"/>
          </a:xfrm>
          <a:prstGeom prst="rect">
            <a:avLst/>
          </a:prstGeom>
        </p:spPr>
      </p:pic>
      <p:sp>
        <p:nvSpPr>
          <p:cNvPr id="6" name="Text 3"/>
          <p:cNvSpPr/>
          <p:nvPr/>
        </p:nvSpPr>
        <p:spPr>
          <a:xfrm>
            <a:off x="1020604" y="3571994"/>
            <a:ext cx="382952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Giao diện Quản lý Học thuật</a:t>
            </a:r>
            <a:endParaRPr lang="en-US" sz="2200" dirty="0">
              <a:latin typeface="Arial" panose="020B0604020202020204" pitchFamily="34" charset="0"/>
            </a:endParaRPr>
          </a:p>
        </p:txBody>
      </p:sp>
      <p:sp>
        <p:nvSpPr>
          <p:cNvPr id="7" name="Text 4"/>
          <p:cNvSpPr/>
          <p:nvPr/>
        </p:nvSpPr>
        <p:spPr>
          <a:xfrm>
            <a:off x="1020604" y="4062413"/>
            <a:ext cx="59543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Dành cho quản trị viên và giảng viên</a:t>
            </a:r>
            <a:endParaRPr lang="en-US" sz="1750" dirty="0">
              <a:latin typeface="Arial" panose="020B0604020202020204" pitchFamily="34" charset="0"/>
            </a:endParaRPr>
          </a:p>
        </p:txBody>
      </p:sp>
      <p:sp>
        <p:nvSpPr>
          <p:cNvPr id="8" name="Text 5"/>
          <p:cNvSpPr/>
          <p:nvPr/>
        </p:nvSpPr>
        <p:spPr>
          <a:xfrm>
            <a:off x="1020604" y="4504611"/>
            <a:ext cx="59543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Cung cấp công cụ quản trị toàn diện: chương trình đào tạo, khóa đào tạo, phân công giảng dạy</a:t>
            </a:r>
            <a:endParaRPr lang="en-US" sz="1750" dirty="0">
              <a:latin typeface="Arial" panose="020B0604020202020204" pitchFamily="34" charset="0"/>
            </a:endParaRPr>
          </a:p>
        </p:txBody>
      </p:sp>
      <p:sp>
        <p:nvSpPr>
          <p:cNvPr id="9" name="Text 6"/>
          <p:cNvSpPr/>
          <p:nvPr/>
        </p:nvSpPr>
        <p:spPr>
          <a:xfrm>
            <a:off x="1020604" y="5309711"/>
            <a:ext cx="59543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Quản lý tài khoản người học/dạy, mục tiêu đào tạo, chuẩn đầu ra, danh mục môn học</a:t>
            </a:r>
            <a:endParaRPr lang="en-US" sz="1750" dirty="0">
              <a:latin typeface="Arial" panose="020B0604020202020204" pitchFamily="34" charset="0"/>
            </a:endParaRPr>
          </a:p>
        </p:txBody>
      </p:sp>
      <p:sp>
        <p:nvSpPr>
          <p:cNvPr id="10" name="Text 7"/>
          <p:cNvSpPr/>
          <p:nvPr/>
        </p:nvSpPr>
        <p:spPr>
          <a:xfrm>
            <a:off x="1020604" y="6114812"/>
            <a:ext cx="59543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Quản lý ngân hàng câu hỏi, danh sách sinh viên, quá trình đánh giá, bài tập luyện tập</a:t>
            </a:r>
            <a:endParaRPr lang="en-US" sz="1750" dirty="0">
              <a:latin typeface="Arial" panose="020B0604020202020204" pitchFamily="34" charset="0"/>
            </a:endParaRPr>
          </a:p>
        </p:txBody>
      </p:sp>
      <p:sp>
        <p:nvSpPr>
          <p:cNvPr id="11" name="Shape 8"/>
          <p:cNvSpPr/>
          <p:nvPr/>
        </p:nvSpPr>
        <p:spPr>
          <a:xfrm>
            <a:off x="7768709" y="2551390"/>
            <a:ext cx="6067782" cy="226814"/>
          </a:xfrm>
          <a:prstGeom prst="roundRect">
            <a:avLst>
              <a:gd name="adj" fmla="val 42003"/>
            </a:avLst>
          </a:prstGeom>
          <a:solidFill>
            <a:srgbClr val="DADBF1"/>
          </a:solidFill>
          <a:ln w="7620">
            <a:solidFill>
              <a:srgbClr val="C0C1D7"/>
            </a:solidFill>
            <a:prstDash val="solid"/>
          </a:ln>
        </p:spPr>
      </p:sp>
      <p:sp>
        <p:nvSpPr>
          <p:cNvPr id="12" name="Shape 9"/>
          <p:cNvSpPr/>
          <p:nvPr/>
        </p:nvSpPr>
        <p:spPr>
          <a:xfrm>
            <a:off x="7428548" y="2324517"/>
            <a:ext cx="680442" cy="680442"/>
          </a:xfrm>
          <a:prstGeom prst="roundRect">
            <a:avLst>
              <a:gd name="adj" fmla="val 67192"/>
            </a:avLst>
          </a:prstGeom>
          <a:solidFill>
            <a:srgbClr val="DADBF1"/>
          </a:solidFill>
          <a:ln w="7620">
            <a:solidFill>
              <a:srgbClr val="C0C1D7"/>
            </a:solidFill>
            <a:prstDash val="solid"/>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98688" y="2494657"/>
            <a:ext cx="340162" cy="340162"/>
          </a:xfrm>
          <a:prstGeom prst="rect">
            <a:avLst/>
          </a:prstGeom>
        </p:spPr>
      </p:pic>
      <p:sp>
        <p:nvSpPr>
          <p:cNvPr id="14" name="Text 10"/>
          <p:cNvSpPr/>
          <p:nvPr/>
        </p:nvSpPr>
        <p:spPr>
          <a:xfrm>
            <a:off x="7655362" y="3231833"/>
            <a:ext cx="427005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Giao diện Luyện </a:t>
            </a:r>
            <a:r>
              <a:rPr lang="en-US" sz="2200" b="1" dirty="0" err="1">
                <a:solidFill>
                  <a:srgbClr val="272525"/>
                </a:solidFill>
                <a:latin typeface="Arial" panose="020B0604020202020204" pitchFamily="34" charset="0"/>
                <a:ea typeface="Inter Bold" pitchFamily="34" charset="-122"/>
                <a:cs typeface="Arial" panose="020B0604020202020204" pitchFamily="34" charset="0"/>
              </a:rPr>
              <a:t>tập</a:t>
            </a:r>
            <a:r>
              <a:rPr lang="en-US" sz="2200" b="1" dirty="0">
                <a:solidFill>
                  <a:srgbClr val="272525"/>
                </a:solidFill>
                <a:latin typeface="Arial" panose="020B0604020202020204" pitchFamily="34" charset="0"/>
                <a:ea typeface="Inter Bold" pitchFamily="34" charset="-122"/>
                <a:cs typeface="Arial" panose="020B0604020202020204" pitchFamily="34" charset="0"/>
              </a:rPr>
              <a:t> </a:t>
            </a:r>
            <a:r>
              <a:rPr lang="en-US" sz="2200" b="1" dirty="0" err="1">
                <a:solidFill>
                  <a:srgbClr val="272525"/>
                </a:solidFill>
                <a:latin typeface="Arial" panose="020B0604020202020204" pitchFamily="34" charset="0"/>
                <a:ea typeface="Inter Bold" pitchFamily="34" charset="-122"/>
                <a:cs typeface="Arial" panose="020B0604020202020204" pitchFamily="34" charset="0"/>
              </a:rPr>
              <a:t>và</a:t>
            </a:r>
            <a:r>
              <a:rPr lang="en-US" sz="2200" b="1" dirty="0">
                <a:solidFill>
                  <a:srgbClr val="272525"/>
                </a:solidFill>
                <a:latin typeface="Arial" panose="020B0604020202020204" pitchFamily="34" charset="0"/>
                <a:ea typeface="Inter Bold" pitchFamily="34" charset="-122"/>
                <a:cs typeface="Arial" panose="020B0604020202020204" pitchFamily="34" charset="0"/>
              </a:rPr>
              <a:t> Đánh giá</a:t>
            </a:r>
            <a:endParaRPr lang="en-US" sz="2200" dirty="0">
              <a:latin typeface="Arial" panose="020B0604020202020204" pitchFamily="34" charset="0"/>
            </a:endParaRPr>
          </a:p>
        </p:txBody>
      </p:sp>
      <p:sp>
        <p:nvSpPr>
          <p:cNvPr id="15" name="Text 11"/>
          <p:cNvSpPr/>
          <p:nvPr/>
        </p:nvSpPr>
        <p:spPr>
          <a:xfrm>
            <a:off x="7655362" y="3722251"/>
            <a:ext cx="59544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Dành cho sinh viên, thiết kế hiện đại và thân thiện</a:t>
            </a:r>
            <a:endParaRPr lang="en-US" sz="1750" dirty="0">
              <a:latin typeface="Arial" panose="020B0604020202020204" pitchFamily="34" charset="0"/>
            </a:endParaRPr>
          </a:p>
        </p:txBody>
      </p:sp>
      <p:sp>
        <p:nvSpPr>
          <p:cNvPr id="16" name="Text 12"/>
          <p:cNvSpPr/>
          <p:nvPr/>
        </p:nvSpPr>
        <p:spPr>
          <a:xfrm>
            <a:off x="7655362" y="4164449"/>
            <a:ext cx="59544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Tích hợp yếu tố trò chơi tạo môi trường tương tác sinh động</a:t>
            </a:r>
            <a:endParaRPr lang="en-US" sz="1750" dirty="0">
              <a:latin typeface="Arial" panose="020B0604020202020204" pitchFamily="34" charset="0"/>
            </a:endParaRPr>
          </a:p>
        </p:txBody>
      </p:sp>
      <p:sp>
        <p:nvSpPr>
          <p:cNvPr id="17" name="Text 13"/>
          <p:cNvSpPr/>
          <p:nvPr/>
        </p:nvSpPr>
        <p:spPr>
          <a:xfrm>
            <a:off x="7655362" y="4969550"/>
            <a:ext cx="59544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Theo dõi tiến độ, thành tích cá nhân qua bài luyện tập, kiểm tra đánh giá định kỳ</a:t>
            </a:r>
            <a:endParaRPr lang="en-US" sz="1750" dirty="0">
              <a:latin typeface="Arial" panose="020B0604020202020204" pitchFamily="34" charset="0"/>
            </a:endParaRPr>
          </a:p>
        </p:txBody>
      </p:sp>
      <p:sp>
        <p:nvSpPr>
          <p:cNvPr id="18" name="Text 14"/>
          <p:cNvSpPr/>
          <p:nvPr/>
        </p:nvSpPr>
        <p:spPr>
          <a:xfrm>
            <a:off x="7655362" y="5774650"/>
            <a:ext cx="59544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So sánh kết quả với mức trung bình hoặc điểm xuất sắc nhất lớp, tạo động lực phấn đấu</a:t>
            </a:r>
            <a:endParaRPr lang="en-US" sz="1750"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717834"/>
            <a:ext cx="920710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Mục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đích</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và</a:t>
            </a:r>
            <a:r>
              <a:rPr lang="en-US" sz="4450" b="1" dirty="0">
                <a:solidFill>
                  <a:srgbClr val="000000"/>
                </a:solidFill>
                <a:latin typeface="Arial" panose="020B0604020202020204" pitchFamily="34" charset="0"/>
                <a:ea typeface="Inter Bold" pitchFamily="34" charset="-122"/>
                <a:cs typeface="Arial" panose="020B0604020202020204" pitchFamily="34" charset="0"/>
              </a:rPr>
              <a:t> Đối tượng Nghiên cứu</a:t>
            </a:r>
            <a:endParaRPr lang="en-US" sz="4450" dirty="0">
              <a:latin typeface="Arial" panose="020B060402020202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2887266"/>
            <a:ext cx="340162" cy="340162"/>
          </a:xfrm>
          <a:prstGeom prst="rect">
            <a:avLst/>
          </a:prstGeom>
        </p:spPr>
      </p:pic>
      <p:sp>
        <p:nvSpPr>
          <p:cNvPr id="4" name="Text 1"/>
          <p:cNvSpPr/>
          <p:nvPr/>
        </p:nvSpPr>
        <p:spPr>
          <a:xfrm>
            <a:off x="1530906" y="28802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Mục đích</a:t>
            </a:r>
            <a:endParaRPr lang="en-US" sz="2200" dirty="0">
              <a:latin typeface="Arial" panose="020B0604020202020204" pitchFamily="34" charset="0"/>
            </a:endParaRPr>
          </a:p>
        </p:txBody>
      </p:sp>
      <p:sp>
        <p:nvSpPr>
          <p:cNvPr id="5" name="Text 2"/>
          <p:cNvSpPr/>
          <p:nvPr/>
        </p:nvSpPr>
        <p:spPr>
          <a:xfrm>
            <a:off x="1530906" y="3370659"/>
            <a:ext cx="564249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Xây dựng hệ thống giao diện trực quan, thân thiện và hiệu quả</a:t>
            </a:r>
            <a:endParaRPr lang="en-US" sz="1750" dirty="0">
              <a:latin typeface="Arial" panose="020B0604020202020204" pitchFamily="34" charset="0"/>
            </a:endParaRPr>
          </a:p>
        </p:txBody>
      </p:sp>
      <p:sp>
        <p:nvSpPr>
          <p:cNvPr id="6" name="Text 3"/>
          <p:cNvSpPr/>
          <p:nvPr/>
        </p:nvSpPr>
        <p:spPr>
          <a:xfrm>
            <a:off x="1530906" y="4175760"/>
            <a:ext cx="564249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Tích hợp yếu tố trò chơi để tạo động lực học tập, tăng tính tương tác</a:t>
            </a:r>
            <a:endParaRPr lang="en-US" sz="1750" dirty="0">
              <a:latin typeface="Arial" panose="020B0604020202020204" pitchFamily="34" charset="0"/>
            </a:endParaRPr>
          </a:p>
        </p:txBody>
      </p:sp>
      <p:sp>
        <p:nvSpPr>
          <p:cNvPr id="7" name="Text 4"/>
          <p:cNvSpPr/>
          <p:nvPr/>
        </p:nvSpPr>
        <p:spPr>
          <a:xfrm>
            <a:off x="1530906" y="4980861"/>
            <a:ext cx="564249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Nâng cao trải nghiệm người dùng cho sinh viên, giảng viên, quản trị viên</a:t>
            </a:r>
            <a:endParaRPr lang="en-US" sz="1750" dirty="0">
              <a:latin typeface="Arial" panose="020B0604020202020204" pitchFamily="34" charset="0"/>
            </a:endParaRPr>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1895" y="2887266"/>
            <a:ext cx="340162" cy="340162"/>
          </a:xfrm>
          <a:prstGeom prst="rect">
            <a:avLst/>
          </a:prstGeom>
        </p:spPr>
      </p:pic>
      <p:sp>
        <p:nvSpPr>
          <p:cNvPr id="9" name="Text 5"/>
          <p:cNvSpPr/>
          <p:nvPr/>
        </p:nvSpPr>
        <p:spPr>
          <a:xfrm>
            <a:off x="8194000" y="2880241"/>
            <a:ext cx="299466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Đối tượng Nghiên cứu</a:t>
            </a:r>
            <a:endParaRPr lang="en-US" sz="2200" dirty="0">
              <a:latin typeface="Arial" panose="020B0604020202020204" pitchFamily="34" charset="0"/>
            </a:endParaRPr>
          </a:p>
        </p:txBody>
      </p:sp>
      <p:sp>
        <p:nvSpPr>
          <p:cNvPr id="10" name="Text 6"/>
          <p:cNvSpPr/>
          <p:nvPr/>
        </p:nvSpPr>
        <p:spPr>
          <a:xfrm>
            <a:off x="8194000" y="3370659"/>
            <a:ext cx="5642610"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Công nghệ frontend hiện đại: Next.js, Tailwind CSS, Shadcn/ui, TanStack Query, Chart.js, Phaser.js, Socket.IO Client</a:t>
            </a:r>
            <a:endParaRPr lang="en-US" sz="1750" dirty="0">
              <a:latin typeface="Arial" panose="020B0604020202020204" pitchFamily="34" charset="0"/>
            </a:endParaRPr>
          </a:p>
        </p:txBody>
      </p:sp>
      <p:sp>
        <p:nvSpPr>
          <p:cNvPr id="11" name="Text 7"/>
          <p:cNvSpPr/>
          <p:nvPr/>
        </p:nvSpPr>
        <p:spPr>
          <a:xfrm>
            <a:off x="8194000" y="4538663"/>
            <a:ext cx="5642610"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Các mô hình giao diện học trực tuyến hiện có</a:t>
            </a:r>
            <a:endParaRPr lang="en-US" sz="1750" dirty="0">
              <a:latin typeface="Arial" panose="020B0604020202020204" pitchFamily="34" charset="0"/>
            </a:endParaRPr>
          </a:p>
        </p:txBody>
      </p:sp>
      <p:sp>
        <p:nvSpPr>
          <p:cNvPr id="12" name="Text 8"/>
          <p:cNvSpPr/>
          <p:nvPr/>
        </p:nvSpPr>
        <p:spPr>
          <a:xfrm>
            <a:off x="8194000" y="4980861"/>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Nhu cầu và hành vi người dùng, xu hướng học tập trực tuyến</a:t>
            </a:r>
            <a:endParaRPr lang="en-US" sz="1750" dirty="0">
              <a:latin typeface="Arial" panose="020B0604020202020204" pitchFamily="34" charset="0"/>
            </a:endParaRPr>
          </a:p>
        </p:txBody>
      </p:sp>
      <p:sp>
        <p:nvSpPr>
          <p:cNvPr id="13" name="Text 9"/>
          <p:cNvSpPr/>
          <p:nvPr/>
        </p:nvSpPr>
        <p:spPr>
          <a:xfrm>
            <a:off x="8194000" y="5785961"/>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Bộ dữ liệu học tập, tiến trình, kết quả và trực quan hóa dữ liệu</a:t>
            </a:r>
            <a:endParaRPr lang="en-US" sz="1750"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863090"/>
            <a:ext cx="10096262"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Phạm vi và Phương pháp Nghiên cứu</a:t>
            </a:r>
            <a:endParaRPr lang="en-US" sz="4450" dirty="0">
              <a:latin typeface="Arial" panose="020B0604020202020204" pitchFamily="34" charset="0"/>
            </a:endParaRPr>
          </a:p>
        </p:txBody>
      </p:sp>
      <p:sp>
        <p:nvSpPr>
          <p:cNvPr id="3" name="Shape 1"/>
          <p:cNvSpPr/>
          <p:nvPr/>
        </p:nvSpPr>
        <p:spPr>
          <a:xfrm>
            <a:off x="793790" y="3025497"/>
            <a:ext cx="6407944" cy="3341013"/>
          </a:xfrm>
          <a:prstGeom prst="roundRect">
            <a:avLst>
              <a:gd name="adj" fmla="val 4379"/>
            </a:avLst>
          </a:prstGeom>
          <a:solidFill>
            <a:srgbClr val="FFFFFF"/>
          </a:solidFill>
          <a:ln w="30480">
            <a:solidFill>
              <a:srgbClr val="C0C1D7"/>
            </a:solidFill>
            <a:prstDash val="solid"/>
          </a:ln>
        </p:spPr>
      </p:sp>
      <p:sp>
        <p:nvSpPr>
          <p:cNvPr id="4" name="Shape 2"/>
          <p:cNvSpPr/>
          <p:nvPr/>
        </p:nvSpPr>
        <p:spPr>
          <a:xfrm>
            <a:off x="763310" y="3025497"/>
            <a:ext cx="121920" cy="3341013"/>
          </a:xfrm>
          <a:prstGeom prst="roundRect">
            <a:avLst>
              <a:gd name="adj" fmla="val 78139"/>
            </a:avLst>
          </a:prstGeom>
          <a:solidFill>
            <a:srgbClr val="4950BC"/>
          </a:solidFill>
          <a:ln/>
        </p:spPr>
      </p:sp>
      <p:sp>
        <p:nvSpPr>
          <p:cNvPr id="5" name="Text 3"/>
          <p:cNvSpPr/>
          <p:nvPr/>
        </p:nvSpPr>
        <p:spPr>
          <a:xfrm>
            <a:off x="1142524" y="328279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Phạm vi Nghiên cứu</a:t>
            </a:r>
            <a:endParaRPr lang="en-US" sz="2200" dirty="0">
              <a:latin typeface="Arial" panose="020B0604020202020204" pitchFamily="34" charset="0"/>
            </a:endParaRPr>
          </a:p>
        </p:txBody>
      </p:sp>
      <p:sp>
        <p:nvSpPr>
          <p:cNvPr id="6" name="Text 4"/>
          <p:cNvSpPr/>
          <p:nvPr/>
        </p:nvSpPr>
        <p:spPr>
          <a:xfrm>
            <a:off x="1142524" y="3773210"/>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Kỹ thuật: Phát triển giao diện frontend, thiết kế, lập trình, kiểm thử</a:t>
            </a:r>
            <a:endParaRPr lang="en-US" sz="1750" dirty="0">
              <a:latin typeface="Arial" panose="020B0604020202020204" pitchFamily="34" charset="0"/>
            </a:endParaRPr>
          </a:p>
        </p:txBody>
      </p:sp>
      <p:sp>
        <p:nvSpPr>
          <p:cNvPr id="7" name="Text 5"/>
          <p:cNvSpPr/>
          <p:nvPr/>
        </p:nvSpPr>
        <p:spPr>
          <a:xfrm>
            <a:off x="1142524" y="4578310"/>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Chuyên môn: Luyện tập, đánh giá, quản lý, trực quan hóa dữ liệu học tập bằng biểu đồ, thống kê</a:t>
            </a:r>
            <a:endParaRPr lang="en-US" sz="1750" dirty="0">
              <a:latin typeface="Arial" panose="020B0604020202020204" pitchFamily="34" charset="0"/>
            </a:endParaRPr>
          </a:p>
        </p:txBody>
      </p:sp>
      <p:sp>
        <p:nvSpPr>
          <p:cNvPr id="8" name="Text 6"/>
          <p:cNvSpPr/>
          <p:nvPr/>
        </p:nvSpPr>
        <p:spPr>
          <a:xfrm>
            <a:off x="1142524" y="5383411"/>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Đối tượng phục vụ: Sinh viên, giảng viên, quản trị viên tại các trường đại học Việt Nam</a:t>
            </a:r>
            <a:endParaRPr lang="en-US" sz="1750" dirty="0">
              <a:latin typeface="Arial" panose="020B0604020202020204" pitchFamily="34" charset="0"/>
            </a:endParaRPr>
          </a:p>
        </p:txBody>
      </p:sp>
      <p:sp>
        <p:nvSpPr>
          <p:cNvPr id="9" name="Shape 7"/>
          <p:cNvSpPr/>
          <p:nvPr/>
        </p:nvSpPr>
        <p:spPr>
          <a:xfrm>
            <a:off x="7428548" y="3025497"/>
            <a:ext cx="6408063" cy="3341013"/>
          </a:xfrm>
          <a:prstGeom prst="roundRect">
            <a:avLst>
              <a:gd name="adj" fmla="val 4379"/>
            </a:avLst>
          </a:prstGeom>
          <a:solidFill>
            <a:srgbClr val="FFFFFF"/>
          </a:solidFill>
          <a:ln w="30480">
            <a:solidFill>
              <a:srgbClr val="C0C1D7"/>
            </a:solidFill>
            <a:prstDash val="solid"/>
          </a:ln>
        </p:spPr>
      </p:sp>
      <p:sp>
        <p:nvSpPr>
          <p:cNvPr id="10" name="Shape 8"/>
          <p:cNvSpPr/>
          <p:nvPr/>
        </p:nvSpPr>
        <p:spPr>
          <a:xfrm>
            <a:off x="7398067" y="3025497"/>
            <a:ext cx="121920" cy="3341013"/>
          </a:xfrm>
          <a:prstGeom prst="roundRect">
            <a:avLst>
              <a:gd name="adj" fmla="val 78139"/>
            </a:avLst>
          </a:prstGeom>
          <a:solidFill>
            <a:srgbClr val="4950BC"/>
          </a:solidFill>
          <a:ln/>
        </p:spPr>
      </p:sp>
      <p:sp>
        <p:nvSpPr>
          <p:cNvPr id="11" name="Text 9"/>
          <p:cNvSpPr/>
          <p:nvPr/>
        </p:nvSpPr>
        <p:spPr>
          <a:xfrm>
            <a:off x="7777282" y="3282791"/>
            <a:ext cx="3483173"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Phương pháp Nghiên cứu</a:t>
            </a:r>
            <a:endParaRPr lang="en-US" sz="2200" dirty="0">
              <a:latin typeface="Arial" panose="020B0604020202020204" pitchFamily="34" charset="0"/>
            </a:endParaRPr>
          </a:p>
        </p:txBody>
      </p:sp>
      <p:sp>
        <p:nvSpPr>
          <p:cNvPr id="12" name="Text 10"/>
          <p:cNvSpPr/>
          <p:nvPr/>
        </p:nvSpPr>
        <p:spPr>
          <a:xfrm>
            <a:off x="7777282" y="3773210"/>
            <a:ext cx="5802035"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Nghiên cứu lý thuyết: Tham khảo tài liệu, giáo trình, nền tảng học trực tuyến, framework frontend, nguyên lý UI/UX</a:t>
            </a:r>
            <a:endParaRPr lang="en-US" sz="1750" dirty="0">
              <a:latin typeface="Arial" panose="020B0604020202020204" pitchFamily="34" charset="0"/>
            </a:endParaRPr>
          </a:p>
        </p:txBody>
      </p:sp>
      <p:sp>
        <p:nvSpPr>
          <p:cNvPr id="13" name="Text 11"/>
          <p:cNvSpPr/>
          <p:nvPr/>
        </p:nvSpPr>
        <p:spPr>
          <a:xfrm>
            <a:off x="7777282" y="4941213"/>
            <a:ext cx="5802035"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Nghiên cứu thực nghiệm: Cài đặt môi trường, lập trình tính năng, tích hợp trò chơi, kiểm thử, lấy ý kiến phản hồi</a:t>
            </a:r>
            <a:endParaRPr lang="en-US" sz="175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468279"/>
            <a:ext cx="1026926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Tổng quan Công nghệ Phát triển Web</a:t>
            </a:r>
            <a:endParaRPr lang="en-US" sz="4450" dirty="0">
              <a:latin typeface="Arial" panose="020B0604020202020204" pitchFamily="34" charset="0"/>
            </a:endParaRPr>
          </a:p>
        </p:txBody>
      </p:sp>
      <p:sp>
        <p:nvSpPr>
          <p:cNvPr id="3" name="Shape 1"/>
          <p:cNvSpPr/>
          <p:nvPr/>
        </p:nvSpPr>
        <p:spPr>
          <a:xfrm>
            <a:off x="793790" y="2630686"/>
            <a:ext cx="510302" cy="510302"/>
          </a:xfrm>
          <a:prstGeom prst="roundRect">
            <a:avLst>
              <a:gd name="adj" fmla="val 18669"/>
            </a:avLst>
          </a:prstGeom>
          <a:solidFill>
            <a:srgbClr val="DADBF1"/>
          </a:solidFill>
          <a:ln w="7620">
            <a:solidFill>
              <a:srgbClr val="C0C1D7"/>
            </a:solidFill>
            <a:prstDash val="solid"/>
          </a:ln>
        </p:spPr>
      </p:sp>
      <p:sp>
        <p:nvSpPr>
          <p:cNvPr id="4" name="Text 2"/>
          <p:cNvSpPr/>
          <p:nvPr/>
        </p:nvSpPr>
        <p:spPr>
          <a:xfrm>
            <a:off x="878860" y="2673191"/>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1</a:t>
            </a:r>
            <a:endParaRPr lang="en-US" sz="2650" dirty="0">
              <a:latin typeface="Arial" panose="020B0604020202020204" pitchFamily="34" charset="0"/>
            </a:endParaRPr>
          </a:p>
        </p:txBody>
      </p:sp>
      <p:sp>
        <p:nvSpPr>
          <p:cNvPr id="5" name="Text 3"/>
          <p:cNvSpPr/>
          <p:nvPr/>
        </p:nvSpPr>
        <p:spPr>
          <a:xfrm>
            <a:off x="1530906" y="270855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Website Động</a:t>
            </a:r>
            <a:endParaRPr lang="en-US" sz="2200" dirty="0">
              <a:latin typeface="Arial" panose="020B0604020202020204" pitchFamily="34" charset="0"/>
            </a:endParaRPr>
          </a:p>
        </p:txBody>
      </p:sp>
      <p:sp>
        <p:nvSpPr>
          <p:cNvPr id="6" name="Text 4"/>
          <p:cNvSpPr/>
          <p:nvPr/>
        </p:nvSpPr>
        <p:spPr>
          <a:xfrm>
            <a:off x="1530906" y="3198971"/>
            <a:ext cx="564249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Nền tảng ứng dụng web phổ biến với khả năng tương tác, cập nhật nội dung liên tục thông qua cơ sở dữ liệu, đóng vai trò trọng yếu trong quản lý hoạt động, giao dịch trực tuyến</a:t>
            </a:r>
            <a:endParaRPr lang="en-US" sz="1750" dirty="0">
              <a:latin typeface="Arial" panose="020B0604020202020204" pitchFamily="34" charset="0"/>
            </a:endParaRPr>
          </a:p>
        </p:txBody>
      </p:sp>
      <p:sp>
        <p:nvSpPr>
          <p:cNvPr id="7" name="Shape 5"/>
          <p:cNvSpPr/>
          <p:nvPr/>
        </p:nvSpPr>
        <p:spPr>
          <a:xfrm>
            <a:off x="7456884" y="2630686"/>
            <a:ext cx="510302" cy="510302"/>
          </a:xfrm>
          <a:prstGeom prst="roundRect">
            <a:avLst>
              <a:gd name="adj" fmla="val 18669"/>
            </a:avLst>
          </a:prstGeom>
          <a:solidFill>
            <a:srgbClr val="DADBF1"/>
          </a:solidFill>
          <a:ln w="7620">
            <a:solidFill>
              <a:srgbClr val="C0C1D7"/>
            </a:solidFill>
            <a:prstDash val="solid"/>
          </a:ln>
        </p:spPr>
      </p:sp>
      <p:sp>
        <p:nvSpPr>
          <p:cNvPr id="8" name="Text 6"/>
          <p:cNvSpPr/>
          <p:nvPr/>
        </p:nvSpPr>
        <p:spPr>
          <a:xfrm>
            <a:off x="7541955" y="2673191"/>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2</a:t>
            </a:r>
            <a:endParaRPr lang="en-US" sz="2650" dirty="0">
              <a:latin typeface="Arial" panose="020B0604020202020204" pitchFamily="34" charset="0"/>
            </a:endParaRPr>
          </a:p>
        </p:txBody>
      </p:sp>
      <p:sp>
        <p:nvSpPr>
          <p:cNvPr id="9" name="Text 7"/>
          <p:cNvSpPr/>
          <p:nvPr/>
        </p:nvSpPr>
        <p:spPr>
          <a:xfrm>
            <a:off x="8194000" y="2708553"/>
            <a:ext cx="318766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Kiến trúc Client-Server</a:t>
            </a:r>
            <a:endParaRPr lang="en-US" sz="2200" dirty="0">
              <a:latin typeface="Arial" panose="020B0604020202020204" pitchFamily="34" charset="0"/>
            </a:endParaRPr>
          </a:p>
        </p:txBody>
      </p:sp>
      <p:sp>
        <p:nvSpPr>
          <p:cNvPr id="10" name="Text 8"/>
          <p:cNvSpPr/>
          <p:nvPr/>
        </p:nvSpPr>
        <p:spPr>
          <a:xfrm>
            <a:off x="8194000" y="3198971"/>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Mô hình nền tảng của hầu hết hệ thống web hiện đại với 3 lớp: trình bày, logic nghiệp vụ, dữ liệu; giao thức HTTP/HTTPS</a:t>
            </a:r>
            <a:endParaRPr lang="en-US" sz="1750" dirty="0">
              <a:latin typeface="Arial" panose="020B0604020202020204" pitchFamily="34" charset="0"/>
            </a:endParaRPr>
          </a:p>
        </p:txBody>
      </p:sp>
      <p:sp>
        <p:nvSpPr>
          <p:cNvPr id="11" name="Shape 9"/>
          <p:cNvSpPr/>
          <p:nvPr/>
        </p:nvSpPr>
        <p:spPr>
          <a:xfrm>
            <a:off x="793790" y="5104209"/>
            <a:ext cx="510302" cy="510302"/>
          </a:xfrm>
          <a:prstGeom prst="roundRect">
            <a:avLst>
              <a:gd name="adj" fmla="val 18669"/>
            </a:avLst>
          </a:prstGeom>
          <a:solidFill>
            <a:srgbClr val="DADBF1"/>
          </a:solidFill>
          <a:ln w="7620">
            <a:solidFill>
              <a:srgbClr val="C0C1D7"/>
            </a:solidFill>
            <a:prstDash val="solid"/>
          </a:ln>
        </p:spPr>
      </p:sp>
      <p:sp>
        <p:nvSpPr>
          <p:cNvPr id="12" name="Text 10"/>
          <p:cNvSpPr/>
          <p:nvPr/>
        </p:nvSpPr>
        <p:spPr>
          <a:xfrm>
            <a:off x="878860" y="514671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3</a:t>
            </a:r>
            <a:endParaRPr lang="en-US" sz="2650" dirty="0">
              <a:latin typeface="Arial" panose="020B0604020202020204" pitchFamily="34" charset="0"/>
            </a:endParaRPr>
          </a:p>
        </p:txBody>
      </p:sp>
      <p:sp>
        <p:nvSpPr>
          <p:cNvPr id="13" name="Text 11"/>
          <p:cNvSpPr/>
          <p:nvPr/>
        </p:nvSpPr>
        <p:spPr>
          <a:xfrm>
            <a:off x="1530906" y="518207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Công nghệ Nền tảng</a:t>
            </a:r>
            <a:endParaRPr lang="en-US" sz="2200" dirty="0">
              <a:latin typeface="Arial" panose="020B0604020202020204" pitchFamily="34" charset="0"/>
            </a:endParaRPr>
          </a:p>
        </p:txBody>
      </p:sp>
      <p:sp>
        <p:nvSpPr>
          <p:cNvPr id="14" name="Text 12"/>
          <p:cNvSpPr/>
          <p:nvPr/>
        </p:nvSpPr>
        <p:spPr>
          <a:xfrm>
            <a:off x="1530906" y="5672495"/>
            <a:ext cx="564249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HTML (cấu trúc), CSS (thiết kế), JavaScript (tương tác); Framework React, Vue.js, Angular; Thư viện Bootstrap, Tailwind CSS, Material UI</a:t>
            </a:r>
            <a:endParaRPr lang="en-US" sz="1750" dirty="0">
              <a:latin typeface="Arial" panose="020B0604020202020204" pitchFamily="34" charset="0"/>
            </a:endParaRPr>
          </a:p>
        </p:txBody>
      </p:sp>
      <p:sp>
        <p:nvSpPr>
          <p:cNvPr id="15" name="Shape 13"/>
          <p:cNvSpPr/>
          <p:nvPr/>
        </p:nvSpPr>
        <p:spPr>
          <a:xfrm>
            <a:off x="7456884" y="5104209"/>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7541955" y="514671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4</a:t>
            </a:r>
            <a:endParaRPr lang="en-US" sz="2650" dirty="0">
              <a:latin typeface="Arial" panose="020B0604020202020204" pitchFamily="34" charset="0"/>
            </a:endParaRPr>
          </a:p>
        </p:txBody>
      </p:sp>
      <p:sp>
        <p:nvSpPr>
          <p:cNvPr id="17" name="Text 15"/>
          <p:cNvSpPr/>
          <p:nvPr/>
        </p:nvSpPr>
        <p:spPr>
          <a:xfrm>
            <a:off x="8194000" y="5182076"/>
            <a:ext cx="290595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Môi trường Phát triển</a:t>
            </a:r>
            <a:endParaRPr lang="en-US" sz="2200" dirty="0">
              <a:latin typeface="Arial" panose="020B0604020202020204" pitchFamily="34" charset="0"/>
            </a:endParaRPr>
          </a:p>
        </p:txBody>
      </p:sp>
      <p:sp>
        <p:nvSpPr>
          <p:cNvPr id="18" name="Text 16"/>
          <p:cNvSpPr/>
          <p:nvPr/>
        </p:nvSpPr>
        <p:spPr>
          <a:xfrm>
            <a:off x="8194000" y="5672495"/>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Trình soạn thảo (VS Code, WebStorm), Git/GitHub, Công cụ kiểm thử (Chrome DevTools, Jest, Cypress), npm/yarn/pnpm, Docker, Vercel, Netlify</a:t>
            </a:r>
            <a:endParaRPr lang="en-US" sz="175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05798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Next.js Framework</a:t>
            </a:r>
            <a:endParaRPr lang="en-US" sz="4450" dirty="0">
              <a:latin typeface="Arial" panose="020B0604020202020204" pitchFamily="34" charset="0"/>
            </a:endParaRPr>
          </a:p>
        </p:txBody>
      </p:sp>
      <p:sp>
        <p:nvSpPr>
          <p:cNvPr id="3" name="Shape 1"/>
          <p:cNvSpPr/>
          <p:nvPr/>
        </p:nvSpPr>
        <p:spPr>
          <a:xfrm>
            <a:off x="793790" y="2220397"/>
            <a:ext cx="6407944" cy="4951214"/>
          </a:xfrm>
          <a:prstGeom prst="roundRect">
            <a:avLst>
              <a:gd name="adj" fmla="val 2955"/>
            </a:avLst>
          </a:prstGeom>
          <a:solidFill>
            <a:srgbClr val="FFFFFF"/>
          </a:solidFill>
          <a:ln w="30480">
            <a:solidFill>
              <a:srgbClr val="C0C1D7"/>
            </a:solidFill>
            <a:prstDash val="solid"/>
          </a:ln>
        </p:spPr>
      </p:sp>
      <p:sp>
        <p:nvSpPr>
          <p:cNvPr id="4" name="Shape 2"/>
          <p:cNvSpPr/>
          <p:nvPr/>
        </p:nvSpPr>
        <p:spPr>
          <a:xfrm>
            <a:off x="763310" y="2220397"/>
            <a:ext cx="121920" cy="4951214"/>
          </a:xfrm>
          <a:prstGeom prst="roundRect">
            <a:avLst>
              <a:gd name="adj" fmla="val 78139"/>
            </a:avLst>
          </a:prstGeom>
          <a:solidFill>
            <a:srgbClr val="4950BC"/>
          </a:solidFill>
          <a:ln/>
        </p:spPr>
      </p:sp>
      <p:sp>
        <p:nvSpPr>
          <p:cNvPr id="5" name="Text 3"/>
          <p:cNvSpPr/>
          <p:nvPr/>
        </p:nvSpPr>
        <p:spPr>
          <a:xfrm>
            <a:off x="1142524" y="247769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Next.js Framework</a:t>
            </a:r>
            <a:endParaRPr lang="en-US" sz="2200" dirty="0">
              <a:latin typeface="Arial" panose="020B0604020202020204" pitchFamily="34" charset="0"/>
            </a:endParaRPr>
          </a:p>
        </p:txBody>
      </p:sp>
      <p:sp>
        <p:nvSpPr>
          <p:cNvPr id="6" name="Text 4"/>
          <p:cNvSpPr/>
          <p:nvPr/>
        </p:nvSpPr>
        <p:spPr>
          <a:xfrm>
            <a:off x="1142524" y="2968109"/>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Framework React tự động cấu hình công cụ nền tảng thấp</a:t>
            </a:r>
            <a:endParaRPr lang="en-US" sz="1750" dirty="0">
              <a:latin typeface="Arial" panose="020B0604020202020204" pitchFamily="34" charset="0"/>
            </a:endParaRPr>
          </a:p>
        </p:txBody>
      </p:sp>
      <p:sp>
        <p:nvSpPr>
          <p:cNvPr id="7" name="Text 5"/>
          <p:cNvSpPr/>
          <p:nvPr/>
        </p:nvSpPr>
        <p:spPr>
          <a:xfrm>
            <a:off x="1142524" y="3773210"/>
            <a:ext cx="580191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Rendering linh hoạt: SSR (cập nhật thường xuyên), SSG (trang ít thay đổi), ISR (kết hợp SSG + cập nhật), CSR (tương tác cao), PPR + Streaming</a:t>
            </a:r>
            <a:endParaRPr lang="en-US" sz="1750" dirty="0">
              <a:latin typeface="Arial" panose="020B0604020202020204" pitchFamily="34" charset="0"/>
            </a:endParaRPr>
          </a:p>
        </p:txBody>
      </p:sp>
      <p:sp>
        <p:nvSpPr>
          <p:cNvPr id="8" name="Text 6"/>
          <p:cNvSpPr/>
          <p:nvPr/>
        </p:nvSpPr>
        <p:spPr>
          <a:xfrm>
            <a:off x="1142524" y="4941213"/>
            <a:ext cx="58019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Routing dựa trên cấu trúc file, tối ưu hóa SEO</a:t>
            </a:r>
            <a:endParaRPr lang="en-US" sz="1750" dirty="0">
              <a:latin typeface="Arial" panose="020B0604020202020204" pitchFamily="34" charset="0"/>
            </a:endParaRPr>
          </a:p>
        </p:txBody>
      </p:sp>
      <p:sp>
        <p:nvSpPr>
          <p:cNvPr id="9" name="Text 7"/>
          <p:cNvSpPr/>
          <p:nvPr/>
        </p:nvSpPr>
        <p:spPr>
          <a:xfrm>
            <a:off x="1142524" y="5383411"/>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Hỗ trợ dữ liệu thời gian thực, tích hợp tốt với hệ sinh thái React</a:t>
            </a:r>
            <a:endParaRPr lang="en-US" sz="1750" dirty="0">
              <a:latin typeface="Arial" panose="020B0604020202020204" pitchFamily="34" charset="0"/>
            </a:endParaRPr>
          </a:p>
        </p:txBody>
      </p:sp>
      <p:sp>
        <p:nvSpPr>
          <p:cNvPr id="10" name="Text 8"/>
          <p:cNvSpPr/>
          <p:nvPr/>
        </p:nvSpPr>
        <p:spPr>
          <a:xfrm>
            <a:off x="1142524" y="6188512"/>
            <a:ext cx="58019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Phù hợp cho cá nhân phát triển lẫn các nhóm lớn</a:t>
            </a:r>
            <a:endParaRPr lang="en-US" sz="1750" dirty="0">
              <a:latin typeface="Arial" panose="020B0604020202020204" pitchFamily="34" charset="0"/>
            </a:endParaRPr>
          </a:p>
        </p:txBody>
      </p:sp>
      <p:sp>
        <p:nvSpPr>
          <p:cNvPr id="11" name="Shape 9"/>
          <p:cNvSpPr/>
          <p:nvPr/>
        </p:nvSpPr>
        <p:spPr>
          <a:xfrm>
            <a:off x="7428548" y="2220397"/>
            <a:ext cx="6408063" cy="4951214"/>
          </a:xfrm>
          <a:prstGeom prst="roundRect">
            <a:avLst>
              <a:gd name="adj" fmla="val 2955"/>
            </a:avLst>
          </a:prstGeom>
          <a:solidFill>
            <a:srgbClr val="FFFFFF"/>
          </a:solidFill>
          <a:ln w="30480">
            <a:solidFill>
              <a:srgbClr val="C0C1D7"/>
            </a:solidFill>
            <a:prstDash val="solid"/>
          </a:ln>
        </p:spPr>
      </p:sp>
      <p:sp>
        <p:nvSpPr>
          <p:cNvPr id="12" name="Shape 10"/>
          <p:cNvSpPr/>
          <p:nvPr/>
        </p:nvSpPr>
        <p:spPr>
          <a:xfrm>
            <a:off x="7398067" y="2220397"/>
            <a:ext cx="121920" cy="4951214"/>
          </a:xfrm>
          <a:prstGeom prst="roundRect">
            <a:avLst>
              <a:gd name="adj" fmla="val 78139"/>
            </a:avLst>
          </a:prstGeom>
          <a:solidFill>
            <a:srgbClr val="4950BC"/>
          </a:solidFill>
          <a:ln/>
        </p:spPr>
      </p:sp>
      <p:sp>
        <p:nvSpPr>
          <p:cNvPr id="13" name="Text 11"/>
          <p:cNvSpPr/>
          <p:nvPr/>
        </p:nvSpPr>
        <p:spPr>
          <a:xfrm>
            <a:off x="7777282" y="2477691"/>
            <a:ext cx="286559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Cấu trúc &amp; Triển khai</a:t>
            </a:r>
            <a:endParaRPr lang="en-US" sz="2200" dirty="0">
              <a:latin typeface="Arial" panose="020B0604020202020204" pitchFamily="34" charset="0"/>
            </a:endParaRPr>
          </a:p>
        </p:txBody>
      </p:sp>
      <p:sp>
        <p:nvSpPr>
          <p:cNvPr id="14" name="Text 12"/>
          <p:cNvSpPr/>
          <p:nvPr/>
        </p:nvSpPr>
        <p:spPr>
          <a:xfrm>
            <a:off x="7777282" y="2968109"/>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Thư mục app/ cho hệ thống định tuyến mới, file page.js, layout.js, loading.js, error.js, route.js</a:t>
            </a:r>
            <a:endParaRPr lang="en-US" sz="1750" dirty="0">
              <a:latin typeface="Arial" panose="020B0604020202020204" pitchFamily="34" charset="0"/>
            </a:endParaRPr>
          </a:p>
        </p:txBody>
      </p:sp>
      <p:sp>
        <p:nvSpPr>
          <p:cNvPr id="15" name="Text 13"/>
          <p:cNvSpPr/>
          <p:nvPr/>
        </p:nvSpPr>
        <p:spPr>
          <a:xfrm>
            <a:off x="7777282" y="3773210"/>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Định tuyến động [slug], bố cục lồng nhau, điều hướng mượt mà với &lt;Link&gt;, useRouter()</a:t>
            </a:r>
            <a:endParaRPr lang="en-US" sz="1750" dirty="0">
              <a:latin typeface="Arial" panose="020B0604020202020204" pitchFamily="34" charset="0"/>
            </a:endParaRPr>
          </a:p>
        </p:txBody>
      </p:sp>
      <p:sp>
        <p:nvSpPr>
          <p:cNvPr id="16" name="Text 14"/>
          <p:cNvSpPr/>
          <p:nvPr/>
        </p:nvSpPr>
        <p:spPr>
          <a:xfrm>
            <a:off x="7777282" y="4578310"/>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Quản lý tài nguyên tĩnh trong public/, tối ưu hóa metadata, image optimization, caching</a:t>
            </a:r>
            <a:endParaRPr lang="en-US" sz="1750" dirty="0">
              <a:latin typeface="Arial" panose="020B0604020202020204" pitchFamily="34" charset="0"/>
            </a:endParaRPr>
          </a:p>
        </p:txBody>
      </p:sp>
      <p:sp>
        <p:nvSpPr>
          <p:cNvPr id="17" name="Text 15"/>
          <p:cNvSpPr/>
          <p:nvPr/>
        </p:nvSpPr>
        <p:spPr>
          <a:xfrm>
            <a:off x="7777282" y="5383411"/>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Triển khai: Node.js, Docker, Static Export, Vercel, Netlify, Cloudflare, AWS Amplify</a:t>
            </a:r>
            <a:endParaRPr lang="en-US" sz="1750" dirty="0">
              <a:latin typeface="Arial" panose="020B0604020202020204" pitchFamily="34" charset="0"/>
            </a:endParaRPr>
          </a:p>
        </p:txBody>
      </p:sp>
      <p:sp>
        <p:nvSpPr>
          <p:cNvPr id="18" name="Text 16"/>
          <p:cNvSpPr/>
          <p:nvPr/>
        </p:nvSpPr>
        <p:spPr>
          <a:xfrm>
            <a:off x="7777282" y="6188512"/>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Tối ưu SEO với metadata động, tối ưu hiệu năng với streaming, tải trước</a:t>
            </a:r>
            <a:endParaRPr lang="en-US" sz="1750"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05798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Phaser.js và API</a:t>
            </a:r>
            <a:endParaRPr lang="en-US" sz="4450" dirty="0">
              <a:latin typeface="Arial" panose="020B0604020202020204" pitchFamily="34" charset="0"/>
            </a:endParaRPr>
          </a:p>
        </p:txBody>
      </p:sp>
      <p:sp>
        <p:nvSpPr>
          <p:cNvPr id="3" name="Shape 1"/>
          <p:cNvSpPr/>
          <p:nvPr/>
        </p:nvSpPr>
        <p:spPr>
          <a:xfrm>
            <a:off x="793790" y="2220397"/>
            <a:ext cx="6407944" cy="4951214"/>
          </a:xfrm>
          <a:prstGeom prst="roundRect">
            <a:avLst>
              <a:gd name="adj" fmla="val 2955"/>
            </a:avLst>
          </a:prstGeom>
          <a:solidFill>
            <a:srgbClr val="FFFFFF"/>
          </a:solidFill>
          <a:ln w="30480">
            <a:solidFill>
              <a:srgbClr val="C0C1D7"/>
            </a:solidFill>
            <a:prstDash val="solid"/>
          </a:ln>
        </p:spPr>
      </p:sp>
      <p:sp>
        <p:nvSpPr>
          <p:cNvPr id="4" name="Shape 2"/>
          <p:cNvSpPr/>
          <p:nvPr/>
        </p:nvSpPr>
        <p:spPr>
          <a:xfrm>
            <a:off x="763310" y="2220397"/>
            <a:ext cx="121920" cy="4951214"/>
          </a:xfrm>
          <a:prstGeom prst="roundRect">
            <a:avLst>
              <a:gd name="adj" fmla="val 78139"/>
            </a:avLst>
          </a:prstGeom>
          <a:solidFill>
            <a:srgbClr val="4950BC"/>
          </a:solidFill>
          <a:ln/>
        </p:spPr>
      </p:sp>
      <p:sp>
        <p:nvSpPr>
          <p:cNvPr id="5" name="Text 3"/>
          <p:cNvSpPr/>
          <p:nvPr/>
        </p:nvSpPr>
        <p:spPr>
          <a:xfrm>
            <a:off x="1142524" y="2477691"/>
            <a:ext cx="442400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Phaser.js - Framework Game 2D</a:t>
            </a:r>
            <a:endParaRPr lang="en-US" sz="2200" dirty="0">
              <a:latin typeface="Arial" panose="020B0604020202020204" pitchFamily="34" charset="0"/>
            </a:endParaRPr>
          </a:p>
        </p:txBody>
      </p:sp>
      <p:sp>
        <p:nvSpPr>
          <p:cNvPr id="6" name="Text 4"/>
          <p:cNvSpPr/>
          <p:nvPr/>
        </p:nvSpPr>
        <p:spPr>
          <a:xfrm>
            <a:off x="1142524" y="2968109"/>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Framework mã nguồn mở dựa trên JavaScript cho game 2D HTML5</a:t>
            </a:r>
            <a:endParaRPr lang="en-US" sz="1750" dirty="0">
              <a:latin typeface="Arial" panose="020B0604020202020204" pitchFamily="34" charset="0"/>
            </a:endParaRPr>
          </a:p>
        </p:txBody>
      </p:sp>
      <p:sp>
        <p:nvSpPr>
          <p:cNvPr id="7" name="Text 5"/>
          <p:cNvSpPr/>
          <p:nvPr/>
        </p:nvSpPr>
        <p:spPr>
          <a:xfrm>
            <a:off x="1142524" y="3773210"/>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Hỗ trợ đa nền tảng: desktop, mobile; renderer WebGL/Canvas</a:t>
            </a:r>
            <a:endParaRPr lang="en-US" sz="1750" dirty="0">
              <a:latin typeface="Arial" panose="020B0604020202020204" pitchFamily="34" charset="0"/>
            </a:endParaRPr>
          </a:p>
        </p:txBody>
      </p:sp>
      <p:sp>
        <p:nvSpPr>
          <p:cNvPr id="8" name="Text 6"/>
          <p:cNvSpPr/>
          <p:nvPr/>
        </p:nvSpPr>
        <p:spPr>
          <a:xfrm>
            <a:off x="1142524" y="4578310"/>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Cấu trúc: Scene (preload, create, update), Asset management, Physics engine</a:t>
            </a:r>
            <a:endParaRPr lang="en-US" sz="1750" dirty="0">
              <a:latin typeface="Arial" panose="020B0604020202020204" pitchFamily="34" charset="0"/>
            </a:endParaRPr>
          </a:p>
        </p:txBody>
      </p:sp>
      <p:sp>
        <p:nvSpPr>
          <p:cNvPr id="9" name="Text 7"/>
          <p:cNvSpPr/>
          <p:nvPr/>
        </p:nvSpPr>
        <p:spPr>
          <a:xfrm>
            <a:off x="1142524" y="5383411"/>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Hệ thống vật lý: Arcade, Matter.js, Impact; Đầu vào: chuột, bàn phím, gamepad, cảm ứng</a:t>
            </a:r>
            <a:endParaRPr lang="en-US" sz="1750" dirty="0">
              <a:latin typeface="Arial" panose="020B0604020202020204" pitchFamily="34" charset="0"/>
            </a:endParaRPr>
          </a:p>
        </p:txBody>
      </p:sp>
      <p:sp>
        <p:nvSpPr>
          <p:cNvPr id="10" name="Text 8"/>
          <p:cNvSpPr/>
          <p:nvPr/>
        </p:nvSpPr>
        <p:spPr>
          <a:xfrm>
            <a:off x="1142524" y="6188512"/>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Âm thanh, Animation, Triển khai: Web, Desktop (Electron), Mobile (Cordova), Cloud</a:t>
            </a:r>
            <a:endParaRPr lang="en-US" sz="1750" dirty="0">
              <a:latin typeface="Arial" panose="020B0604020202020204" pitchFamily="34" charset="0"/>
            </a:endParaRPr>
          </a:p>
        </p:txBody>
      </p:sp>
      <p:sp>
        <p:nvSpPr>
          <p:cNvPr id="11" name="Shape 9"/>
          <p:cNvSpPr/>
          <p:nvPr/>
        </p:nvSpPr>
        <p:spPr>
          <a:xfrm>
            <a:off x="7428548" y="2220397"/>
            <a:ext cx="6408063" cy="4951214"/>
          </a:xfrm>
          <a:prstGeom prst="roundRect">
            <a:avLst>
              <a:gd name="adj" fmla="val 2955"/>
            </a:avLst>
          </a:prstGeom>
          <a:solidFill>
            <a:srgbClr val="FFFFFF"/>
          </a:solidFill>
          <a:ln w="30480">
            <a:solidFill>
              <a:srgbClr val="C0C1D7"/>
            </a:solidFill>
            <a:prstDash val="solid"/>
          </a:ln>
        </p:spPr>
      </p:sp>
      <p:sp>
        <p:nvSpPr>
          <p:cNvPr id="12" name="Shape 10"/>
          <p:cNvSpPr/>
          <p:nvPr/>
        </p:nvSpPr>
        <p:spPr>
          <a:xfrm>
            <a:off x="7398067" y="2220397"/>
            <a:ext cx="121920" cy="4951214"/>
          </a:xfrm>
          <a:prstGeom prst="roundRect">
            <a:avLst>
              <a:gd name="adj" fmla="val 78139"/>
            </a:avLst>
          </a:prstGeom>
          <a:solidFill>
            <a:srgbClr val="4950BC"/>
          </a:solidFill>
          <a:ln/>
        </p:spPr>
      </p:sp>
      <p:sp>
        <p:nvSpPr>
          <p:cNvPr id="13" name="Text 11"/>
          <p:cNvSpPr/>
          <p:nvPr/>
        </p:nvSpPr>
        <p:spPr>
          <a:xfrm>
            <a:off x="7777282" y="2477691"/>
            <a:ext cx="319587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API &amp; Tương tác Dữ liệu</a:t>
            </a:r>
            <a:endParaRPr lang="en-US" sz="2200" dirty="0">
              <a:latin typeface="Arial" panose="020B0604020202020204" pitchFamily="34" charset="0"/>
            </a:endParaRPr>
          </a:p>
        </p:txBody>
      </p:sp>
      <p:sp>
        <p:nvSpPr>
          <p:cNvPr id="14" name="Text 12"/>
          <p:cNvSpPr/>
          <p:nvPr/>
        </p:nvSpPr>
        <p:spPr>
          <a:xfrm>
            <a:off x="7777282" y="2968109"/>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API REST: Giao tiếp HTTP với GET, POST, PUT, DELETE; dữ liệu JSON</a:t>
            </a:r>
            <a:endParaRPr lang="en-US" sz="1750" dirty="0">
              <a:latin typeface="Arial" panose="020B0604020202020204" pitchFamily="34" charset="0"/>
            </a:endParaRPr>
          </a:p>
        </p:txBody>
      </p:sp>
      <p:sp>
        <p:nvSpPr>
          <p:cNvPr id="15" name="Text 13"/>
          <p:cNvSpPr/>
          <p:nvPr/>
        </p:nvSpPr>
        <p:spPr>
          <a:xfrm>
            <a:off x="7777282" y="3773210"/>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Axios: Thư viện gửi yêu cầu HTTP, hỗ trợ async/await, interceptor, xác thực</a:t>
            </a:r>
            <a:endParaRPr lang="en-US" sz="1750" dirty="0">
              <a:latin typeface="Arial" panose="020B0604020202020204" pitchFamily="34" charset="0"/>
            </a:endParaRPr>
          </a:p>
        </p:txBody>
      </p:sp>
      <p:sp>
        <p:nvSpPr>
          <p:cNvPr id="16" name="Text 14"/>
          <p:cNvSpPr/>
          <p:nvPr/>
        </p:nvSpPr>
        <p:spPr>
          <a:xfrm>
            <a:off x="7777282" y="4578310"/>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Socket.IO Client: Kết nối realtime WebSocket hai chiều, sự kiện emit/on, phòng chat, namespace</a:t>
            </a:r>
            <a:endParaRPr lang="en-US" sz="1750" dirty="0">
              <a:latin typeface="Arial" panose="020B0604020202020204" pitchFamily="34" charset="0"/>
            </a:endParaRPr>
          </a:p>
        </p:txBody>
      </p:sp>
      <p:sp>
        <p:nvSpPr>
          <p:cNvPr id="17" name="Text 15"/>
          <p:cNvSpPr/>
          <p:nvPr/>
        </p:nvSpPr>
        <p:spPr>
          <a:xfrm>
            <a:off x="7777282" y="5383411"/>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Cấu trúc Request-Response: Endpoint, HTTP method, Header, Body, Status code</a:t>
            </a:r>
            <a:endParaRPr lang="en-US" sz="175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354931"/>
            <a:ext cx="8913614"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Công nghệ Giao diện và Bảo mật</a:t>
            </a:r>
            <a:endParaRPr lang="en-US" sz="4450" dirty="0">
              <a:latin typeface="Arial" panose="020B060402020202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2524363"/>
            <a:ext cx="340162" cy="340162"/>
          </a:xfrm>
          <a:prstGeom prst="rect">
            <a:avLst/>
          </a:prstGeom>
        </p:spPr>
      </p:pic>
      <p:sp>
        <p:nvSpPr>
          <p:cNvPr id="4" name="Text 1"/>
          <p:cNvSpPr/>
          <p:nvPr/>
        </p:nvSpPr>
        <p:spPr>
          <a:xfrm>
            <a:off x="1530906" y="2517338"/>
            <a:ext cx="430280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Công nghệ Giao diện &amp; Thiết kế</a:t>
            </a:r>
            <a:endParaRPr lang="en-US" sz="2200" dirty="0">
              <a:latin typeface="Arial" panose="020B0604020202020204" pitchFamily="34" charset="0"/>
            </a:endParaRPr>
          </a:p>
        </p:txBody>
      </p:sp>
      <p:sp>
        <p:nvSpPr>
          <p:cNvPr id="5" name="Text 2"/>
          <p:cNvSpPr/>
          <p:nvPr/>
        </p:nvSpPr>
        <p:spPr>
          <a:xfrm>
            <a:off x="1530906" y="3007757"/>
            <a:ext cx="564249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Tailwind CSS: Lớp tiện ích, tùy chỉnh dễ dàng, hỗ trợ responsive, tiết kiệm tài nguyên</a:t>
            </a:r>
            <a:endParaRPr lang="en-US" sz="1750" dirty="0">
              <a:latin typeface="Arial" panose="020B0604020202020204" pitchFamily="34" charset="0"/>
            </a:endParaRPr>
          </a:p>
        </p:txBody>
      </p:sp>
      <p:sp>
        <p:nvSpPr>
          <p:cNvPr id="6" name="Text 3"/>
          <p:cNvSpPr/>
          <p:nvPr/>
        </p:nvSpPr>
        <p:spPr>
          <a:xfrm>
            <a:off x="1530906" y="3812858"/>
            <a:ext cx="564249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Shadcn/ui: Bộ công cụ giao diện React/Next.js, mã nguồn mở, dựa trên Radix UI + Tailwind CSS</a:t>
            </a:r>
            <a:endParaRPr lang="en-US" sz="1750" dirty="0">
              <a:latin typeface="Arial" panose="020B0604020202020204" pitchFamily="34" charset="0"/>
            </a:endParaRPr>
          </a:p>
        </p:txBody>
      </p:sp>
      <p:sp>
        <p:nvSpPr>
          <p:cNvPr id="7" name="Text 4"/>
          <p:cNvSpPr/>
          <p:nvPr/>
        </p:nvSpPr>
        <p:spPr>
          <a:xfrm>
            <a:off x="1530906" y="4617958"/>
            <a:ext cx="5642491"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Chart.js: Thư viện biểu đồ HTML5 Canvas, nhiều loại (đường, cột, tròn, radar), tùy chỉnh cao, thích ứng màn hình</a:t>
            </a:r>
            <a:endParaRPr lang="en-US" sz="1750" dirty="0">
              <a:latin typeface="Arial" panose="020B0604020202020204" pitchFamily="34" charset="0"/>
            </a:endParaRPr>
          </a:p>
        </p:txBody>
      </p:sp>
      <p:sp>
        <p:nvSpPr>
          <p:cNvPr id="8" name="Text 5"/>
          <p:cNvSpPr/>
          <p:nvPr/>
        </p:nvSpPr>
        <p:spPr>
          <a:xfrm>
            <a:off x="1530906" y="5785961"/>
            <a:ext cx="5642491"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TanStack Query: Quản lý dữ liệu không đồng bộ, lưu trữ tạm thời thông minh, cập nhật ngầm, tối ưu hiệu năng</a:t>
            </a:r>
            <a:endParaRPr lang="en-US" sz="1750" dirty="0">
              <a:latin typeface="Arial" panose="020B0604020202020204" pitchFamily="34" charset="0"/>
            </a:endParaRPr>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1895" y="2524363"/>
            <a:ext cx="340162" cy="340162"/>
          </a:xfrm>
          <a:prstGeom prst="rect">
            <a:avLst/>
          </a:prstGeom>
        </p:spPr>
      </p:pic>
      <p:sp>
        <p:nvSpPr>
          <p:cNvPr id="10" name="Text 6"/>
          <p:cNvSpPr/>
          <p:nvPr/>
        </p:nvSpPr>
        <p:spPr>
          <a:xfrm>
            <a:off x="8194000" y="2517338"/>
            <a:ext cx="284166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Bảo mật &amp; Hiệu năng</a:t>
            </a:r>
            <a:endParaRPr lang="en-US" sz="2200" dirty="0">
              <a:latin typeface="Arial" panose="020B0604020202020204" pitchFamily="34" charset="0"/>
            </a:endParaRPr>
          </a:p>
        </p:txBody>
      </p:sp>
      <p:sp>
        <p:nvSpPr>
          <p:cNvPr id="11" name="Text 7"/>
          <p:cNvSpPr/>
          <p:nvPr/>
        </p:nvSpPr>
        <p:spPr>
          <a:xfrm>
            <a:off x="8194000" y="3007757"/>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Xác thực &amp; Phân quyền: Token, phiên làm việc, vai trò người dùng, kiểm soát truy cập</a:t>
            </a:r>
            <a:endParaRPr lang="en-US" sz="1750" dirty="0">
              <a:latin typeface="Arial" panose="020B0604020202020204" pitchFamily="34" charset="0"/>
            </a:endParaRPr>
          </a:p>
        </p:txBody>
      </p:sp>
      <p:sp>
        <p:nvSpPr>
          <p:cNvPr id="12" name="Text 8"/>
          <p:cNvSpPr/>
          <p:nvPr/>
        </p:nvSpPr>
        <p:spPr>
          <a:xfrm>
            <a:off x="8194000" y="3812858"/>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Quản lý Session &amp; Cookie: Lưu trữ trạng thái, Secure, HttpOnly, SameSite, thời hạn hết hạn</a:t>
            </a:r>
            <a:endParaRPr lang="en-US" sz="1750" dirty="0">
              <a:latin typeface="Arial" panose="020B0604020202020204" pitchFamily="34" charset="0"/>
            </a:endParaRPr>
          </a:p>
        </p:txBody>
      </p:sp>
      <p:sp>
        <p:nvSpPr>
          <p:cNvPr id="13" name="Text 9"/>
          <p:cNvSpPr/>
          <p:nvPr/>
        </p:nvSpPr>
        <p:spPr>
          <a:xfrm>
            <a:off x="8194000" y="4617958"/>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Git/GitHub: Quản lý phiên bản, cộng tác, kiểm tra code, tự động hóa CI/CD</a:t>
            </a:r>
            <a:endParaRPr lang="en-US" sz="1750" dirty="0">
              <a:latin typeface="Arial" panose="020B0604020202020204" pitchFamily="34" charset="0"/>
            </a:endParaRPr>
          </a:p>
        </p:txBody>
      </p:sp>
      <p:sp>
        <p:nvSpPr>
          <p:cNvPr id="14" name="Text 10"/>
          <p:cNvSpPr/>
          <p:nvPr/>
        </p:nvSpPr>
        <p:spPr>
          <a:xfrm>
            <a:off x="8194000" y="5423059"/>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Browser DevTools: Gỡ lỗi, kiểm tra hiệu năng, Lighthouse, kiểm tra bảo mật</a:t>
            </a:r>
            <a:endParaRPr lang="en-US" sz="175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10537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Mô tả Bài toán</a:t>
            </a:r>
            <a:endParaRPr lang="en-US" sz="4450" dirty="0">
              <a:latin typeface="Arial" panose="020B0604020202020204" pitchFamily="34" charset="0"/>
            </a:endParaRPr>
          </a:p>
        </p:txBody>
      </p:sp>
      <p:sp>
        <p:nvSpPr>
          <p:cNvPr id="3" name="Shape 1"/>
          <p:cNvSpPr/>
          <p:nvPr/>
        </p:nvSpPr>
        <p:spPr>
          <a:xfrm>
            <a:off x="793790" y="2267783"/>
            <a:ext cx="510302" cy="510302"/>
          </a:xfrm>
          <a:prstGeom prst="roundRect">
            <a:avLst>
              <a:gd name="adj" fmla="val 18669"/>
            </a:avLst>
          </a:prstGeom>
          <a:solidFill>
            <a:srgbClr val="DADBF1"/>
          </a:solidFill>
          <a:ln w="7620">
            <a:solidFill>
              <a:srgbClr val="C0C1D7"/>
            </a:solidFill>
            <a:prstDash val="solid"/>
          </a:ln>
        </p:spPr>
      </p:sp>
      <p:sp>
        <p:nvSpPr>
          <p:cNvPr id="4" name="Text 2"/>
          <p:cNvSpPr/>
          <p:nvPr/>
        </p:nvSpPr>
        <p:spPr>
          <a:xfrm>
            <a:off x="878860" y="2310289"/>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1</a:t>
            </a:r>
            <a:endParaRPr lang="en-US" sz="2650" dirty="0">
              <a:latin typeface="Arial" panose="020B0604020202020204" pitchFamily="34" charset="0"/>
            </a:endParaRPr>
          </a:p>
        </p:txBody>
      </p:sp>
      <p:sp>
        <p:nvSpPr>
          <p:cNvPr id="5" name="Text 3"/>
          <p:cNvSpPr/>
          <p:nvPr/>
        </p:nvSpPr>
        <p:spPr>
          <a:xfrm>
            <a:off x="1530906" y="234565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Bài toán chính</a:t>
            </a:r>
            <a:endParaRPr lang="en-US" sz="2200" dirty="0">
              <a:latin typeface="Arial" panose="020B0604020202020204" pitchFamily="34" charset="0"/>
            </a:endParaRPr>
          </a:p>
        </p:txBody>
      </p:sp>
      <p:sp>
        <p:nvSpPr>
          <p:cNvPr id="6" name="Text 4"/>
          <p:cNvSpPr/>
          <p:nvPr/>
        </p:nvSpPr>
        <p:spPr>
          <a:xfrm>
            <a:off x="1530906" y="2836069"/>
            <a:ext cx="5642491"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Phát triển giao diện Frontend cho nền tảng học trực tuyến có tích hợp yếu tố trò chơi hóa, giúp nâng cao trải nghiệm học tập, tăng động lực cho sinh viên và cung cấp công cụ quản lý, phân tích hiệu quả cho giảng viên cùng quản trị viên</a:t>
            </a:r>
            <a:endParaRPr lang="en-US" sz="1750" dirty="0">
              <a:latin typeface="Arial" panose="020B0604020202020204" pitchFamily="34" charset="0"/>
            </a:endParaRPr>
          </a:p>
        </p:txBody>
      </p:sp>
      <p:sp>
        <p:nvSpPr>
          <p:cNvPr id="7" name="Shape 5"/>
          <p:cNvSpPr/>
          <p:nvPr/>
        </p:nvSpPr>
        <p:spPr>
          <a:xfrm>
            <a:off x="7456884" y="2267783"/>
            <a:ext cx="510302" cy="510302"/>
          </a:xfrm>
          <a:prstGeom prst="roundRect">
            <a:avLst>
              <a:gd name="adj" fmla="val 18669"/>
            </a:avLst>
          </a:prstGeom>
          <a:solidFill>
            <a:srgbClr val="DADBF1"/>
          </a:solidFill>
          <a:ln w="7620">
            <a:solidFill>
              <a:srgbClr val="C0C1D7"/>
            </a:solidFill>
            <a:prstDash val="solid"/>
          </a:ln>
        </p:spPr>
      </p:sp>
      <p:sp>
        <p:nvSpPr>
          <p:cNvPr id="8" name="Text 6"/>
          <p:cNvSpPr/>
          <p:nvPr/>
        </p:nvSpPr>
        <p:spPr>
          <a:xfrm>
            <a:off x="7541955" y="2310289"/>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2</a:t>
            </a:r>
            <a:endParaRPr lang="en-US" sz="2650" dirty="0">
              <a:latin typeface="Arial" panose="020B0604020202020204" pitchFamily="34" charset="0"/>
            </a:endParaRPr>
          </a:p>
        </p:txBody>
      </p:sp>
      <p:sp>
        <p:nvSpPr>
          <p:cNvPr id="9" name="Text 7"/>
          <p:cNvSpPr/>
          <p:nvPr/>
        </p:nvSpPr>
        <p:spPr>
          <a:xfrm>
            <a:off x="8194000" y="2345650"/>
            <a:ext cx="382952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Giao diện Quản lý Học thuật</a:t>
            </a:r>
            <a:endParaRPr lang="en-US" sz="2200" dirty="0">
              <a:latin typeface="Arial" panose="020B0604020202020204" pitchFamily="34" charset="0"/>
            </a:endParaRPr>
          </a:p>
        </p:txBody>
      </p:sp>
      <p:sp>
        <p:nvSpPr>
          <p:cNvPr id="10" name="Text 8"/>
          <p:cNvSpPr/>
          <p:nvPr/>
        </p:nvSpPr>
        <p:spPr>
          <a:xfrm>
            <a:off x="8194000" y="2836069"/>
            <a:ext cx="564261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Dành cho quản trị viên và giảng viên, hỗ trợ quản lý chương trình đào tạo, khóa học, phân công, ngân hàng câu hỏi, sinh viên, bài kiểm tra, luyện tập với các công cụ trực quan, chức năng quản lý mạnh mẽ</a:t>
            </a:r>
            <a:endParaRPr lang="en-US" sz="1750" dirty="0">
              <a:latin typeface="Arial" panose="020B0604020202020204" pitchFamily="34" charset="0"/>
            </a:endParaRPr>
          </a:p>
        </p:txBody>
      </p:sp>
      <p:sp>
        <p:nvSpPr>
          <p:cNvPr id="11" name="Shape 9"/>
          <p:cNvSpPr/>
          <p:nvPr/>
        </p:nvSpPr>
        <p:spPr>
          <a:xfrm>
            <a:off x="793790" y="5104209"/>
            <a:ext cx="510302" cy="510302"/>
          </a:xfrm>
          <a:prstGeom prst="roundRect">
            <a:avLst>
              <a:gd name="adj" fmla="val 18669"/>
            </a:avLst>
          </a:prstGeom>
          <a:solidFill>
            <a:srgbClr val="DADBF1"/>
          </a:solidFill>
          <a:ln w="7620">
            <a:solidFill>
              <a:srgbClr val="C0C1D7"/>
            </a:solidFill>
            <a:prstDash val="solid"/>
          </a:ln>
        </p:spPr>
      </p:sp>
      <p:sp>
        <p:nvSpPr>
          <p:cNvPr id="12" name="Text 10"/>
          <p:cNvSpPr/>
          <p:nvPr/>
        </p:nvSpPr>
        <p:spPr>
          <a:xfrm>
            <a:off x="878860" y="514671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3</a:t>
            </a:r>
            <a:endParaRPr lang="en-US" sz="2650" dirty="0">
              <a:latin typeface="Arial" panose="020B0604020202020204" pitchFamily="34" charset="0"/>
            </a:endParaRPr>
          </a:p>
        </p:txBody>
      </p:sp>
      <p:sp>
        <p:nvSpPr>
          <p:cNvPr id="13" name="Text 11"/>
          <p:cNvSpPr/>
          <p:nvPr/>
        </p:nvSpPr>
        <p:spPr>
          <a:xfrm>
            <a:off x="1530906" y="5182076"/>
            <a:ext cx="427005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Giao diện Luyện tập &amp; Đánh giá</a:t>
            </a:r>
            <a:endParaRPr lang="en-US" sz="2200" dirty="0">
              <a:latin typeface="Arial" panose="020B0604020202020204" pitchFamily="34" charset="0"/>
            </a:endParaRPr>
          </a:p>
        </p:txBody>
      </p:sp>
      <p:sp>
        <p:nvSpPr>
          <p:cNvPr id="14" name="Text 12"/>
          <p:cNvSpPr/>
          <p:nvPr/>
        </p:nvSpPr>
        <p:spPr>
          <a:xfrm>
            <a:off x="1530906" y="5672495"/>
            <a:ext cx="564249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Dành cho sinh viên, hiển thị tiến trình học tập, kết quả bài kiểm tra/luyện tập, so sánh năng lực với trung bình lớp, tích hợp yếu tố game như cấp độ, vật phẩm, cửa hàng, thành tích</a:t>
            </a:r>
            <a:endParaRPr lang="en-US" sz="1750" dirty="0">
              <a:latin typeface="Arial" panose="020B0604020202020204" pitchFamily="34" charset="0"/>
            </a:endParaRPr>
          </a:p>
        </p:txBody>
      </p:sp>
      <p:sp>
        <p:nvSpPr>
          <p:cNvPr id="15" name="Shape 13"/>
          <p:cNvSpPr/>
          <p:nvPr/>
        </p:nvSpPr>
        <p:spPr>
          <a:xfrm>
            <a:off x="7456884" y="5104209"/>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7541955" y="514671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Arial" panose="020B0604020202020204" pitchFamily="34" charset="0"/>
                <a:ea typeface="Inter Bold" pitchFamily="34" charset="-122"/>
                <a:cs typeface="Arial" panose="020B0604020202020204" pitchFamily="34" charset="0"/>
              </a:rPr>
              <a:t>4</a:t>
            </a:r>
            <a:endParaRPr lang="en-US" sz="2650" dirty="0">
              <a:latin typeface="Arial" panose="020B0604020202020204" pitchFamily="34" charset="0"/>
            </a:endParaRPr>
          </a:p>
        </p:txBody>
      </p:sp>
      <p:sp>
        <p:nvSpPr>
          <p:cNvPr id="17" name="Text 15"/>
          <p:cNvSpPr/>
          <p:nvPr/>
        </p:nvSpPr>
        <p:spPr>
          <a:xfrm>
            <a:off x="8194000" y="5182076"/>
            <a:ext cx="3821073"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Công nghệ &amp; Trực quan hóa</a:t>
            </a:r>
            <a:endParaRPr lang="en-US" sz="2200" dirty="0">
              <a:latin typeface="Arial" panose="020B0604020202020204" pitchFamily="34" charset="0"/>
            </a:endParaRPr>
          </a:p>
        </p:txBody>
      </p:sp>
      <p:sp>
        <p:nvSpPr>
          <p:cNvPr id="18" name="Text 16"/>
          <p:cNvSpPr/>
          <p:nvPr/>
        </p:nvSpPr>
        <p:spPr>
          <a:xfrm>
            <a:off x="8194000" y="5672495"/>
            <a:ext cx="564261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Ứng dụng Next.js, Tailwind CSS, Shadcn/ui, TanStack Query, Phaser.js, Chart.js, Socket.IO; hỗ trợ trực quan hóa dữ liệu bằng nhiều loại biểu đồ giúp phân tích tiến độ, hiệu quả học tập</a:t>
            </a:r>
            <a:endParaRPr lang="en-US" sz="1750"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31873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Yêu cầu Hệ thống</a:t>
            </a:r>
            <a:endParaRPr lang="en-US" sz="4450" dirty="0">
              <a:latin typeface="Arial" panose="020B0604020202020204" pitchFamily="34" charset="0"/>
            </a:endParaRPr>
          </a:p>
        </p:txBody>
      </p:sp>
      <p:sp>
        <p:nvSpPr>
          <p:cNvPr id="3" name="Shape 1"/>
          <p:cNvSpPr/>
          <p:nvPr/>
        </p:nvSpPr>
        <p:spPr>
          <a:xfrm>
            <a:off x="793790" y="2481143"/>
            <a:ext cx="6407944" cy="4429720"/>
          </a:xfrm>
          <a:prstGeom prst="roundRect">
            <a:avLst>
              <a:gd name="adj" fmla="val 3303"/>
            </a:avLst>
          </a:prstGeom>
          <a:solidFill>
            <a:srgbClr val="FFFFFF"/>
          </a:solidFill>
          <a:ln w="30480">
            <a:solidFill>
              <a:srgbClr val="C0C1D7"/>
            </a:solidFill>
            <a:prstDash val="solid"/>
          </a:ln>
        </p:spPr>
      </p:sp>
      <p:sp>
        <p:nvSpPr>
          <p:cNvPr id="4" name="Shape 2"/>
          <p:cNvSpPr/>
          <p:nvPr/>
        </p:nvSpPr>
        <p:spPr>
          <a:xfrm>
            <a:off x="763310" y="2481143"/>
            <a:ext cx="121920" cy="4429720"/>
          </a:xfrm>
          <a:prstGeom prst="roundRect">
            <a:avLst>
              <a:gd name="adj" fmla="val 78139"/>
            </a:avLst>
          </a:prstGeom>
          <a:solidFill>
            <a:srgbClr val="4950BC"/>
          </a:solidFill>
          <a:ln/>
        </p:spPr>
      </p:sp>
      <p:sp>
        <p:nvSpPr>
          <p:cNvPr id="5" name="Text 3"/>
          <p:cNvSpPr/>
          <p:nvPr/>
        </p:nvSpPr>
        <p:spPr>
          <a:xfrm>
            <a:off x="1142524" y="273843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Yêu cầu Chức năng</a:t>
            </a:r>
            <a:endParaRPr lang="en-US" sz="2200" dirty="0">
              <a:latin typeface="Arial" panose="020B0604020202020204" pitchFamily="34" charset="0"/>
            </a:endParaRPr>
          </a:p>
        </p:txBody>
      </p:sp>
      <p:sp>
        <p:nvSpPr>
          <p:cNvPr id="6" name="Text 4"/>
          <p:cNvSpPr/>
          <p:nvPr/>
        </p:nvSpPr>
        <p:spPr>
          <a:xfrm>
            <a:off x="1142524" y="3228856"/>
            <a:ext cx="580191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Quản lý (Quản trị viên): Quản lý chương trình đào tạo, khóa đào tạo, phân công giảng dạy, mục tiêu đào tạo, chuẩn đầu ra</a:t>
            </a:r>
            <a:endParaRPr lang="en-US" sz="1750" dirty="0">
              <a:latin typeface="Arial" panose="020B0604020202020204" pitchFamily="34" charset="0"/>
            </a:endParaRPr>
          </a:p>
        </p:txBody>
      </p:sp>
      <p:sp>
        <p:nvSpPr>
          <p:cNvPr id="7" name="Text 5"/>
          <p:cNvSpPr/>
          <p:nvPr/>
        </p:nvSpPr>
        <p:spPr>
          <a:xfrm>
            <a:off x="1142524" y="4396859"/>
            <a:ext cx="580191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Giảng dạy (Giảng viên): Quản lý khóa học, sinh viên, ngân hàng câu hỏi, bài kiểm tra, theo dõi tiến độ, báo cáo chi tiết</a:t>
            </a:r>
            <a:endParaRPr lang="en-US" sz="1750" dirty="0">
              <a:latin typeface="Arial" panose="020B0604020202020204" pitchFamily="34" charset="0"/>
            </a:endParaRPr>
          </a:p>
        </p:txBody>
      </p:sp>
      <p:sp>
        <p:nvSpPr>
          <p:cNvPr id="8" name="Text 6"/>
          <p:cNvSpPr/>
          <p:nvPr/>
        </p:nvSpPr>
        <p:spPr>
          <a:xfrm>
            <a:off x="1142524" y="5564862"/>
            <a:ext cx="580191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Học tập (Sinh viên): Luyện tập và đánh giá dưới dạng trò chơi, theo dõi tiến độ, xem phân tích kết quả, tham gia bảng xếp hạng, quản lý vật phẩm</a:t>
            </a:r>
            <a:endParaRPr lang="en-US" sz="1750" dirty="0">
              <a:latin typeface="Arial" panose="020B0604020202020204" pitchFamily="34" charset="0"/>
            </a:endParaRPr>
          </a:p>
        </p:txBody>
      </p:sp>
      <p:sp>
        <p:nvSpPr>
          <p:cNvPr id="9" name="Shape 7"/>
          <p:cNvSpPr/>
          <p:nvPr/>
        </p:nvSpPr>
        <p:spPr>
          <a:xfrm>
            <a:off x="7428548" y="2481143"/>
            <a:ext cx="6408063" cy="4429720"/>
          </a:xfrm>
          <a:prstGeom prst="roundRect">
            <a:avLst>
              <a:gd name="adj" fmla="val 3303"/>
            </a:avLst>
          </a:prstGeom>
          <a:solidFill>
            <a:srgbClr val="FFFFFF"/>
          </a:solidFill>
          <a:ln w="30480">
            <a:solidFill>
              <a:srgbClr val="C0C1D7"/>
            </a:solidFill>
            <a:prstDash val="solid"/>
          </a:ln>
        </p:spPr>
      </p:sp>
      <p:sp>
        <p:nvSpPr>
          <p:cNvPr id="10" name="Shape 8"/>
          <p:cNvSpPr/>
          <p:nvPr/>
        </p:nvSpPr>
        <p:spPr>
          <a:xfrm>
            <a:off x="7398067" y="2481143"/>
            <a:ext cx="121920" cy="4429720"/>
          </a:xfrm>
          <a:prstGeom prst="roundRect">
            <a:avLst>
              <a:gd name="adj" fmla="val 78139"/>
            </a:avLst>
          </a:prstGeom>
          <a:solidFill>
            <a:srgbClr val="4950BC"/>
          </a:solidFill>
          <a:ln/>
        </p:spPr>
      </p:sp>
      <p:sp>
        <p:nvSpPr>
          <p:cNvPr id="11" name="Text 9"/>
          <p:cNvSpPr/>
          <p:nvPr/>
        </p:nvSpPr>
        <p:spPr>
          <a:xfrm>
            <a:off x="7777282" y="2738437"/>
            <a:ext cx="31731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Yêu cầu Phi Chức năng</a:t>
            </a:r>
            <a:endParaRPr lang="en-US" sz="2200" dirty="0">
              <a:latin typeface="Arial" panose="020B0604020202020204" pitchFamily="34" charset="0"/>
            </a:endParaRPr>
          </a:p>
        </p:txBody>
      </p:sp>
      <p:sp>
        <p:nvSpPr>
          <p:cNvPr id="12" name="Text 10"/>
          <p:cNvSpPr/>
          <p:nvPr/>
        </p:nvSpPr>
        <p:spPr>
          <a:xfrm>
            <a:off x="7777282" y="3228856"/>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Giao diện: Trực quan, thân thiện, hiện đại, nhất quán, dễ sử dụng, tương thích đa thiết bị</a:t>
            </a:r>
            <a:endParaRPr lang="en-US" sz="1750" dirty="0">
              <a:latin typeface="Arial" panose="020B0604020202020204" pitchFamily="34" charset="0"/>
            </a:endParaRPr>
          </a:p>
        </p:txBody>
      </p:sp>
      <p:sp>
        <p:nvSpPr>
          <p:cNvPr id="13" name="Text 11"/>
          <p:cNvSpPr/>
          <p:nvPr/>
        </p:nvSpPr>
        <p:spPr>
          <a:xfrm>
            <a:off x="7777282" y="4033957"/>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Hiệu suất: Thời gian tải nhanh, phản hồi mượt mà, tối ưu hóa với Next.js, TanStack Query, Phaser.js</a:t>
            </a:r>
            <a:endParaRPr lang="en-US" sz="1750" dirty="0">
              <a:latin typeface="Arial" panose="020B0604020202020204" pitchFamily="34" charset="0"/>
            </a:endParaRPr>
          </a:p>
        </p:txBody>
      </p:sp>
      <p:sp>
        <p:nvSpPr>
          <p:cNvPr id="14" name="Text 12"/>
          <p:cNvSpPr/>
          <p:nvPr/>
        </p:nvSpPr>
        <p:spPr>
          <a:xfrm>
            <a:off x="7777282" y="4839057"/>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Bảo mật: Xác thực người dùng, phân quyền truy cập rõ ràng, kiểm soát vai trò</a:t>
            </a:r>
            <a:endParaRPr lang="en-US" sz="1750" dirty="0">
              <a:latin typeface="Arial" panose="020B0604020202020204" pitchFamily="34" charset="0"/>
            </a:endParaRPr>
          </a:p>
        </p:txBody>
      </p:sp>
      <p:sp>
        <p:nvSpPr>
          <p:cNvPr id="15" name="Text 13"/>
          <p:cNvSpPr/>
          <p:nvPr/>
        </p:nvSpPr>
        <p:spPr>
          <a:xfrm>
            <a:off x="7777282" y="5644158"/>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Khả năng mở rộng: Kiến trúc module hóa, dễ bảo trì, nâng cấp, tích hợp tính năng mới</a:t>
            </a:r>
            <a:endParaRPr lang="en-US" sz="1750"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208D496-414E-1AF8-FE40-F242ECCE6182}"/>
              </a:ext>
            </a:extLst>
          </p:cNvPr>
          <p:cNvSpPr/>
          <p:nvPr/>
        </p:nvSpPr>
        <p:spPr>
          <a:xfrm>
            <a:off x="793790" y="1286828"/>
            <a:ext cx="7944683" cy="708779"/>
          </a:xfrm>
          <a:prstGeom prst="rect">
            <a:avLst/>
          </a:prstGeom>
          <a:noFill/>
          <a:ln/>
        </p:spPr>
        <p:txBody>
          <a:bodyPr wrap="none" lIns="0" tIns="0" rIns="0" bIns="0" rtlCol="0" anchor="t"/>
          <a:lstStyle/>
          <a:p>
            <a:pPr marL="0" indent="0" algn="l">
              <a:lnSpc>
                <a:spcPts val="5550"/>
              </a:lnSpc>
              <a:buNone/>
            </a:pPr>
            <a:r>
              <a:rPr lang="en-US" sz="4450" b="1" dirty="0" err="1">
                <a:solidFill>
                  <a:srgbClr val="000000"/>
                </a:solidFill>
                <a:latin typeface="Arial" panose="020B0604020202020204" pitchFamily="34" charset="0"/>
                <a:ea typeface="Inter Bold" pitchFamily="34" charset="-122"/>
                <a:cs typeface="Arial" panose="020B0604020202020204" pitchFamily="34" charset="0"/>
              </a:rPr>
              <a:t>Kiến</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trúc</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endParaRPr lang="en-US" sz="4450" dirty="0">
              <a:latin typeface="Arial" panose="020B0604020202020204" pitchFamily="34" charset="0"/>
            </a:endParaRPr>
          </a:p>
        </p:txBody>
      </p:sp>
      <p:sp>
        <p:nvSpPr>
          <p:cNvPr id="21" name="TextBox 20">
            <a:extLst>
              <a:ext uri="{FF2B5EF4-FFF2-40B4-BE49-F238E27FC236}">
                <a16:creationId xmlns:a16="http://schemas.microsoft.com/office/drawing/2014/main" id="{8D8972EB-280D-0C38-4041-BA4EA740148F}"/>
              </a:ext>
            </a:extLst>
          </p:cNvPr>
          <p:cNvSpPr txBox="1"/>
          <p:nvPr/>
        </p:nvSpPr>
        <p:spPr>
          <a:xfrm>
            <a:off x="793790" y="2388882"/>
            <a:ext cx="7470534" cy="5035353"/>
          </a:xfrm>
          <a:prstGeom prst="rect">
            <a:avLst/>
          </a:prstGeom>
          <a:noFill/>
        </p:spPr>
        <p:txBody>
          <a:bodyPr wrap="square">
            <a:spAutoFit/>
          </a:bodyPr>
          <a:lstStyle/>
          <a:p>
            <a:pPr>
              <a:lnSpc>
                <a:spcPct val="150000"/>
              </a:lnSpc>
              <a:spcBef>
                <a:spcPts val="600"/>
              </a:spcBef>
              <a:spcAft>
                <a:spcPts val="600"/>
              </a:spcAft>
            </a:pPr>
            <a:r>
              <a:rPr lang="en-US" sz="1800" dirty="0" err="1">
                <a:effectLst/>
                <a:latin typeface="Arial" panose="020B0604020202020204" pitchFamily="34" charset="0"/>
                <a:ea typeface="SimSun" panose="02010600030101010101" pitchFamily="2" charset="-122"/>
                <a:cs typeface="Arial" panose="020B0604020202020204" pitchFamily="34" charset="0"/>
              </a:rPr>
              <a:t>Sơ</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đồ</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mô</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tả</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quy</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trình</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đăng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tài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khoản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trong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Đầu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hiển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thị</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giao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diện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đăng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để</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người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dùng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Sau </a:t>
            </a:r>
            <a:r>
              <a:rPr lang="en-US" sz="1800" dirty="0" err="1">
                <a:effectLst/>
                <a:latin typeface="Arial" panose="020B0604020202020204" pitchFamily="34" charset="0"/>
                <a:ea typeface="SimSun" panose="02010600030101010101" pitchFamily="2" charset="-122"/>
                <a:cs typeface="Arial" panose="020B0604020202020204" pitchFamily="34" charset="0"/>
              </a:rPr>
              <a:t>khi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tin,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kiểm</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xem</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có</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tồn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trong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cơ</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sở</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dữ</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liệu</a:t>
            </a:r>
            <a:r>
              <a:rPr lang="en-US" sz="1800" dirty="0">
                <a:effectLst/>
                <a:latin typeface="Arial" panose="020B0604020202020204" pitchFamily="34" charset="0"/>
                <a:ea typeface="SimSun" panose="02010600030101010101" pitchFamily="2" charset="-122"/>
                <a:cs typeface="Arial" panose="020B0604020202020204" pitchFamily="34" charset="0"/>
              </a:rPr>
              <a:t> hay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Nếu</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tồn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báo</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tồn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yêu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cầu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Nếu</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hợp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tiếp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tục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kiểm</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Trong </a:t>
            </a:r>
            <a:r>
              <a:rPr lang="en-US" sz="1800" dirty="0" err="1">
                <a:effectLst/>
                <a:latin typeface="Arial" panose="020B0604020202020204" pitchFamily="34" charset="0"/>
                <a:ea typeface="SimSun" panose="02010600030101010101" pitchFamily="2" charset="-122"/>
                <a:cs typeface="Arial" panose="020B0604020202020204" pitchFamily="34" charset="0"/>
              </a:rPr>
              <a:t>trường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hợp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chính</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xác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hiển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thị</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báo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sai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yêu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cầu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Ngược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nếu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đúng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sẽ</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lưu</a:t>
            </a:r>
            <a:r>
              <a:rPr lang="en-US" sz="1800" dirty="0">
                <a:effectLst/>
                <a:latin typeface="Arial" panose="020B0604020202020204" pitchFamily="34" charset="0"/>
                <a:ea typeface="SimSun" panose="02010600030101010101" pitchFamily="2" charset="-122"/>
                <a:cs typeface="Arial" panose="020B0604020202020204" pitchFamily="34" charset="0"/>
              </a:rPr>
              <a:t> token </a:t>
            </a:r>
            <a:r>
              <a:rPr lang="en-US" sz="1800" dirty="0" err="1">
                <a:effectLst/>
                <a:latin typeface="Arial" panose="020B0604020202020204" pitchFamily="34" charset="0"/>
                <a:ea typeface="SimSun" panose="02010600030101010101" pitchFamily="2" charset="-122"/>
                <a:cs typeface="Arial" panose="020B0604020202020204" pitchFamily="34" charset="0"/>
              </a:rPr>
              <a:t>xác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thực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tin </a:t>
            </a:r>
            <a:r>
              <a:rPr lang="en-US" sz="1800" dirty="0" err="1">
                <a:effectLst/>
                <a:latin typeface="Arial" panose="020B0604020202020204" pitchFamily="34" charset="0"/>
                <a:ea typeface="SimSun" panose="02010600030101010101" pitchFamily="2" charset="-122"/>
                <a:cs typeface="Arial" panose="020B0604020202020204" pitchFamily="34" charset="0"/>
              </a:rPr>
              <a:t>người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dùng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bộ</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nhớ</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cục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bộ</a:t>
            </a:r>
            <a:r>
              <a:rPr lang="en-US" sz="1800" dirty="0">
                <a:effectLst/>
                <a:latin typeface="Arial" panose="020B0604020202020204" pitchFamily="34" charset="0"/>
                <a:ea typeface="SimSun" panose="02010600030101010101" pitchFamily="2" charset="-122"/>
                <a:cs typeface="Arial" panose="020B0604020202020204" pitchFamily="34" charset="0"/>
              </a:rPr>
              <a:t>. Sau </a:t>
            </a:r>
            <a:r>
              <a:rPr lang="en-US" sz="1800" dirty="0" err="1">
                <a:effectLst/>
                <a:latin typeface="Arial" panose="020B0604020202020204" pitchFamily="34" charset="0"/>
                <a:ea typeface="SimSun" panose="02010600030101010101" pitchFamily="2" charset="-122"/>
                <a:cs typeface="Arial" panose="020B0604020202020204" pitchFamily="34" charset="0"/>
              </a:rPr>
              <a:t>đó</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kiểm</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vai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trò</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của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người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dùng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chuyển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hướng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a:t>
            </a:r>
            <a:r>
              <a:rPr lang="en-US" sz="1800" dirty="0" err="1">
                <a:effectLst/>
                <a:latin typeface="Arial" panose="020B0604020202020204" pitchFamily="34" charset="0"/>
                <a:ea typeface="SimSun" panose="02010600030101010101" pitchFamily="2" charset="-122"/>
                <a:cs typeface="Arial" panose="020B0604020202020204" pitchFamily="34" charset="0"/>
              </a:rPr>
              <a:t>tương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ứng</a:t>
            </a:r>
            <a:r>
              <a:rPr lang="en-US" sz="1800" dirty="0">
                <a:effectLst/>
                <a:latin typeface="Arial" panose="020B0604020202020204" pitchFamily="34" charset="0"/>
                <a:ea typeface="SimSun" panose="02010600030101010101" pitchFamily="2" charset="-122"/>
                <a:cs typeface="Arial" panose="020B0604020202020204" pitchFamily="34" charset="0"/>
              </a:rPr>
              <a:t>: Admin </a:t>
            </a:r>
            <a:r>
              <a:rPr lang="en-US" sz="1800" dirty="0" err="1">
                <a:effectLst/>
                <a:latin typeface="Arial" panose="020B0604020202020204" pitchFamily="34" charset="0"/>
                <a:ea typeface="SimSun" panose="02010600030101010101" pitchFamily="2" charset="-122"/>
                <a:cs typeface="Arial" panose="020B0604020202020204" pitchFamily="34" charset="0"/>
              </a:rPr>
              <a:t>được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chuyển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Admin, </a:t>
            </a:r>
            <a:r>
              <a:rPr lang="en-US" sz="1800" dirty="0" err="1">
                <a:effectLst/>
                <a:latin typeface="Arial" panose="020B0604020202020204" pitchFamily="34" charset="0"/>
                <a:ea typeface="SimSun" panose="02010600030101010101" pitchFamily="2" charset="-122"/>
                <a:cs typeface="Arial" panose="020B0604020202020204" pitchFamily="34" charset="0"/>
              </a:rPr>
              <a:t>Giáo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a:t>
            </a:r>
            <a:r>
              <a:rPr lang="en-US" sz="1800" dirty="0" err="1">
                <a:effectLst/>
                <a:latin typeface="Arial" panose="020B0604020202020204" pitchFamily="34" charset="0"/>
                <a:ea typeface="SimSun" panose="02010600030101010101" pitchFamily="2" charset="-122"/>
                <a:cs typeface="Arial" panose="020B0604020202020204" pitchFamily="34" charset="0"/>
              </a:rPr>
              <a:t>Giáo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Sinh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Sinh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a:t>
            </a:r>
            <a:endParaRPr lang="en-US" dirty="0">
              <a:latin typeface="Arial" panose="020B0604020202020204" pitchFamily="34" charset="0"/>
            </a:endParaRPr>
          </a:p>
        </p:txBody>
      </p:sp>
      <p:pic>
        <p:nvPicPr>
          <p:cNvPr id="3" name="Picture 2">
            <a:extLst>
              <a:ext uri="{FF2B5EF4-FFF2-40B4-BE49-F238E27FC236}">
                <a16:creationId xmlns:a16="http://schemas.microsoft.com/office/drawing/2014/main" id="{98856C4B-EEF7-6EAB-8CBE-37FF77B0E4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38473" y="-19841"/>
            <a:ext cx="4074944" cy="8249441"/>
          </a:xfrm>
          <a:prstGeom prst="rect">
            <a:avLst/>
          </a:prstGeom>
          <a:noFill/>
          <a:ln>
            <a:noFill/>
          </a:ln>
        </p:spPr>
      </p:pic>
    </p:spTree>
    <p:extLst>
      <p:ext uri="{BB962C8B-B14F-4D97-AF65-F5344CB8AC3E}">
        <p14:creationId xmlns:p14="http://schemas.microsoft.com/office/powerpoint/2010/main" val="1208903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C787DF-053F-410B-A58B-C3ABD70951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246EF4-755A-59C3-2784-09F7033D9FC8}"/>
              </a:ext>
            </a:extLst>
          </p:cNvPr>
          <p:cNvSpPr/>
          <p:nvPr/>
        </p:nvSpPr>
        <p:spPr>
          <a:xfrm>
            <a:off x="793790" y="1286828"/>
            <a:ext cx="7944683" cy="708779"/>
          </a:xfrm>
          <a:prstGeom prst="rect">
            <a:avLst/>
          </a:prstGeom>
          <a:noFill/>
          <a:ln/>
        </p:spPr>
        <p:txBody>
          <a:bodyPr wrap="none" lIns="0" tIns="0" rIns="0" bIns="0" rtlCol="0" anchor="t"/>
          <a:lstStyle/>
          <a:p>
            <a:pPr marL="0" indent="0" algn="l">
              <a:lnSpc>
                <a:spcPts val="5550"/>
              </a:lnSpc>
              <a:buNone/>
            </a:pPr>
            <a:r>
              <a:rPr lang="en-US" sz="4450" b="1" dirty="0" err="1">
                <a:solidFill>
                  <a:srgbClr val="000000"/>
                </a:solidFill>
                <a:latin typeface="Arial" panose="020B0604020202020204" pitchFamily="34" charset="0"/>
                <a:ea typeface="Inter Bold" pitchFamily="34" charset="-122"/>
                <a:cs typeface="Arial" panose="020B0604020202020204" pitchFamily="34" charset="0"/>
              </a:rPr>
              <a:t>Sơ</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đồ</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hoạt</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động</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đăng</a:t>
            </a:r>
            <a:r>
              <a:rPr lang="en-US" sz="4450" b="1" dirty="0">
                <a:solidFill>
                  <a:srgbClr val="000000"/>
                </a:solidFill>
                <a:latin typeface="Arial" panose="020B0604020202020204" pitchFamily="34" charset="0"/>
                <a:ea typeface="Inter Bold" pitchFamily="34" charset="-122"/>
                <a:cs typeface="Arial" panose="020B0604020202020204" pitchFamily="34" charset="0"/>
              </a:rPr>
              <a:t> </a:t>
            </a:r>
            <a:r>
              <a:rPr lang="en-US" sz="4450" b="1" dirty="0" err="1">
                <a:solidFill>
                  <a:srgbClr val="000000"/>
                </a:solidFill>
                <a:latin typeface="Arial" panose="020B0604020202020204" pitchFamily="34" charset="0"/>
                <a:ea typeface="Inter Bold" pitchFamily="34" charset="-122"/>
                <a:cs typeface="Arial" panose="020B0604020202020204" pitchFamily="34" charset="0"/>
              </a:rPr>
              <a:t>nhập</a:t>
            </a:r>
            <a:endParaRPr lang="en-US" sz="4450" dirty="0">
              <a:latin typeface="Arial" panose="020B0604020202020204" pitchFamily="34" charset="0"/>
            </a:endParaRPr>
          </a:p>
        </p:txBody>
      </p:sp>
      <p:pic>
        <p:nvPicPr>
          <p:cNvPr id="19" name="Picture 18">
            <a:extLst>
              <a:ext uri="{FF2B5EF4-FFF2-40B4-BE49-F238E27FC236}">
                <a16:creationId xmlns:a16="http://schemas.microsoft.com/office/drawing/2014/main" id="{621E6773-A5A1-C8AB-9886-9C6183EE6809}"/>
              </a:ext>
            </a:extLst>
          </p:cNvPr>
          <p:cNvPicPr>
            <a:picLocks noChangeAspect="1"/>
          </p:cNvPicPr>
          <p:nvPr/>
        </p:nvPicPr>
        <p:blipFill>
          <a:blip r:embed="rId2"/>
          <a:stretch>
            <a:fillRect/>
          </a:stretch>
        </p:blipFill>
        <p:spPr>
          <a:xfrm>
            <a:off x="8738473" y="130828"/>
            <a:ext cx="5682253" cy="7967944"/>
          </a:xfrm>
          <a:prstGeom prst="rect">
            <a:avLst/>
          </a:prstGeom>
        </p:spPr>
      </p:pic>
      <p:sp>
        <p:nvSpPr>
          <p:cNvPr id="21" name="TextBox 20">
            <a:extLst>
              <a:ext uri="{FF2B5EF4-FFF2-40B4-BE49-F238E27FC236}">
                <a16:creationId xmlns:a16="http://schemas.microsoft.com/office/drawing/2014/main" id="{885926D7-341A-C007-73B5-DC64EE9A07D7}"/>
              </a:ext>
            </a:extLst>
          </p:cNvPr>
          <p:cNvSpPr txBox="1"/>
          <p:nvPr/>
        </p:nvSpPr>
        <p:spPr>
          <a:xfrm>
            <a:off x="793790" y="2388882"/>
            <a:ext cx="7470534" cy="5035353"/>
          </a:xfrm>
          <a:prstGeom prst="rect">
            <a:avLst/>
          </a:prstGeom>
          <a:noFill/>
        </p:spPr>
        <p:txBody>
          <a:bodyPr wrap="square">
            <a:spAutoFit/>
          </a:bodyPr>
          <a:lstStyle/>
          <a:p>
            <a:pPr>
              <a:lnSpc>
                <a:spcPct val="150000"/>
              </a:lnSpc>
              <a:spcBef>
                <a:spcPts val="600"/>
              </a:spcBef>
              <a:spcAft>
                <a:spcPts val="600"/>
              </a:spcAft>
            </a:pPr>
            <a:r>
              <a:rPr lang="en-US" sz="1800" dirty="0" err="1">
                <a:effectLst/>
                <a:latin typeface="Arial" panose="020B0604020202020204" pitchFamily="34" charset="0"/>
                <a:ea typeface="SimSun" panose="02010600030101010101" pitchFamily="2" charset="-122"/>
                <a:cs typeface="Arial" panose="020B0604020202020204" pitchFamily="34" charset="0"/>
              </a:rPr>
              <a:t>Sơ</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đồ</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mô</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tả</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quy</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trình</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đăng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tài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khoản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trong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Đầu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hiển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thị</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giao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diện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đăng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để</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người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dùng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Sau </a:t>
            </a:r>
            <a:r>
              <a:rPr lang="en-US" sz="1800" dirty="0" err="1">
                <a:effectLst/>
                <a:latin typeface="Arial" panose="020B0604020202020204" pitchFamily="34" charset="0"/>
                <a:ea typeface="SimSun" panose="02010600030101010101" pitchFamily="2" charset="-122"/>
                <a:cs typeface="Arial" panose="020B0604020202020204" pitchFamily="34" charset="0"/>
              </a:rPr>
              <a:t>khi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tin,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kiểm</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xem</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có</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tồn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trong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cơ</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sở</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dữ</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liệu</a:t>
            </a:r>
            <a:r>
              <a:rPr lang="en-US" sz="1800" dirty="0">
                <a:effectLst/>
                <a:latin typeface="Arial" panose="020B0604020202020204" pitchFamily="34" charset="0"/>
                <a:ea typeface="SimSun" panose="02010600030101010101" pitchFamily="2" charset="-122"/>
                <a:cs typeface="Arial" panose="020B0604020202020204" pitchFamily="34" charset="0"/>
              </a:rPr>
              <a:t> hay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Nếu</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tồn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báo</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tồn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yêu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cầu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Nếu</a:t>
            </a:r>
            <a:r>
              <a:rPr lang="en-US" sz="1800" dirty="0">
                <a:effectLst/>
                <a:latin typeface="Arial" panose="020B0604020202020204" pitchFamily="34" charset="0"/>
                <a:ea typeface="SimSun" panose="02010600030101010101" pitchFamily="2" charset="-122"/>
                <a:cs typeface="Arial" panose="020B0604020202020204" pitchFamily="34" charset="0"/>
              </a:rPr>
              <a:t> email </a:t>
            </a:r>
            <a:r>
              <a:rPr lang="en-US" sz="1800" dirty="0" err="1">
                <a:effectLst/>
                <a:latin typeface="Arial" panose="020B0604020202020204" pitchFamily="34" charset="0"/>
                <a:ea typeface="SimSun" panose="02010600030101010101" pitchFamily="2" charset="-122"/>
                <a:cs typeface="Arial" panose="020B0604020202020204" pitchFamily="34" charset="0"/>
              </a:rPr>
              <a:t>hợp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tiếp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tục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kiểm</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Trong </a:t>
            </a:r>
            <a:r>
              <a:rPr lang="en-US" sz="1800" dirty="0" err="1">
                <a:effectLst/>
                <a:latin typeface="Arial" panose="020B0604020202020204" pitchFamily="34" charset="0"/>
                <a:ea typeface="SimSun" panose="02010600030101010101" pitchFamily="2" charset="-122"/>
                <a:cs typeface="Arial" panose="020B0604020202020204" pitchFamily="34" charset="0"/>
              </a:rPr>
              <a:t>trường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hợp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chính</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xác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hiển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thị</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báo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sai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yêu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cầu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nhập</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Ngược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lại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nếu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mật</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khẩu</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đúng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sẽ</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lưu</a:t>
            </a:r>
            <a:r>
              <a:rPr lang="en-US" sz="1800" dirty="0">
                <a:effectLst/>
                <a:latin typeface="Arial" panose="020B0604020202020204" pitchFamily="34" charset="0"/>
                <a:ea typeface="SimSun" panose="02010600030101010101" pitchFamily="2" charset="-122"/>
                <a:cs typeface="Arial" panose="020B0604020202020204" pitchFamily="34" charset="0"/>
              </a:rPr>
              <a:t> token </a:t>
            </a:r>
            <a:r>
              <a:rPr lang="en-US" sz="1800" dirty="0" err="1">
                <a:effectLst/>
                <a:latin typeface="Arial" panose="020B0604020202020204" pitchFamily="34" charset="0"/>
                <a:ea typeface="SimSun" panose="02010600030101010101" pitchFamily="2" charset="-122"/>
                <a:cs typeface="Arial" panose="020B0604020202020204" pitchFamily="34" charset="0"/>
              </a:rPr>
              <a:t>xác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thực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thông</a:t>
            </a:r>
            <a:r>
              <a:rPr lang="en-US" sz="1800" dirty="0">
                <a:effectLst/>
                <a:latin typeface="Arial" panose="020B0604020202020204" pitchFamily="34" charset="0"/>
                <a:ea typeface="SimSun" panose="02010600030101010101" pitchFamily="2" charset="-122"/>
                <a:cs typeface="Arial" panose="020B0604020202020204" pitchFamily="34" charset="0"/>
              </a:rPr>
              <a:t> tin </a:t>
            </a:r>
            <a:r>
              <a:rPr lang="en-US" sz="1800" dirty="0" err="1">
                <a:effectLst/>
                <a:latin typeface="Arial" panose="020B0604020202020204" pitchFamily="34" charset="0"/>
                <a:ea typeface="SimSun" panose="02010600030101010101" pitchFamily="2" charset="-122"/>
                <a:cs typeface="Arial" panose="020B0604020202020204" pitchFamily="34" charset="0"/>
              </a:rPr>
              <a:t>người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dùng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bộ</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nhớ</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cục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bộ</a:t>
            </a:r>
            <a:r>
              <a:rPr lang="en-US" sz="1800" dirty="0">
                <a:effectLst/>
                <a:latin typeface="Arial" panose="020B0604020202020204" pitchFamily="34" charset="0"/>
                <a:ea typeface="SimSun" panose="02010600030101010101" pitchFamily="2" charset="-122"/>
                <a:cs typeface="Arial" panose="020B0604020202020204" pitchFamily="34" charset="0"/>
              </a:rPr>
              <a:t>. Sau </a:t>
            </a:r>
            <a:r>
              <a:rPr lang="en-US" sz="1800" dirty="0" err="1">
                <a:effectLst/>
                <a:latin typeface="Arial" panose="020B0604020202020204" pitchFamily="34" charset="0"/>
                <a:ea typeface="SimSun" panose="02010600030101010101" pitchFamily="2" charset="-122"/>
                <a:cs typeface="Arial" panose="020B0604020202020204" pitchFamily="34" charset="0"/>
              </a:rPr>
              <a:t>đó</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hệ</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thống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kiểm</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vai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trò</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của</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người</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dùng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chuyển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hướng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a:t>
            </a:r>
            <a:r>
              <a:rPr lang="en-US" sz="1800" dirty="0" err="1">
                <a:effectLst/>
                <a:latin typeface="Arial" panose="020B0604020202020204" pitchFamily="34" charset="0"/>
                <a:ea typeface="SimSun" panose="02010600030101010101" pitchFamily="2" charset="-122"/>
                <a:cs typeface="Arial" panose="020B0604020202020204" pitchFamily="34" charset="0"/>
              </a:rPr>
              <a:t>tương</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ứng</a:t>
            </a:r>
            <a:r>
              <a:rPr lang="en-US" sz="1800" dirty="0">
                <a:effectLst/>
                <a:latin typeface="Arial" panose="020B0604020202020204" pitchFamily="34" charset="0"/>
                <a:ea typeface="SimSun" panose="02010600030101010101" pitchFamily="2" charset="-122"/>
                <a:cs typeface="Arial" panose="020B0604020202020204" pitchFamily="34" charset="0"/>
              </a:rPr>
              <a:t>: Admin </a:t>
            </a:r>
            <a:r>
              <a:rPr lang="en-US" sz="1800" dirty="0" err="1">
                <a:effectLst/>
                <a:latin typeface="Arial" panose="020B0604020202020204" pitchFamily="34" charset="0"/>
                <a:ea typeface="SimSun" panose="02010600030101010101" pitchFamily="2" charset="-122"/>
                <a:cs typeface="Arial" panose="020B0604020202020204" pitchFamily="34" charset="0"/>
              </a:rPr>
              <a:t>được</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chuyển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Admin, </a:t>
            </a:r>
            <a:r>
              <a:rPr lang="en-US" sz="1800" dirty="0" err="1">
                <a:effectLst/>
                <a:latin typeface="Arial" panose="020B0604020202020204" pitchFamily="34" charset="0"/>
                <a:ea typeface="SimSun" panose="02010600030101010101" pitchFamily="2" charset="-122"/>
                <a:cs typeface="Arial" panose="020B0604020202020204" pitchFamily="34" charset="0"/>
              </a:rPr>
              <a:t>Giáo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a:t>
            </a:r>
            <a:r>
              <a:rPr lang="en-US" sz="1800" dirty="0" err="1">
                <a:effectLst/>
                <a:latin typeface="Arial" panose="020B0604020202020204" pitchFamily="34" charset="0"/>
                <a:ea typeface="SimSun" panose="02010600030101010101" pitchFamily="2" charset="-122"/>
                <a:cs typeface="Arial" panose="020B0604020202020204" pitchFamily="34" charset="0"/>
              </a:rPr>
              <a:t>Giáo</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và</a:t>
            </a:r>
            <a:r>
              <a:rPr lang="en-US" sz="1800" dirty="0">
                <a:effectLst/>
                <a:latin typeface="Arial" panose="020B0604020202020204" pitchFamily="34" charset="0"/>
                <a:ea typeface="SimSun" panose="02010600030101010101" pitchFamily="2" charset="-122"/>
                <a:cs typeface="Arial" panose="020B0604020202020204" pitchFamily="34" charset="0"/>
              </a:rPr>
              <a:t> Sinh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 </a:t>
            </a:r>
            <a:r>
              <a:rPr lang="en-US" sz="1800" dirty="0" err="1">
                <a:effectLst/>
                <a:latin typeface="Arial" panose="020B0604020202020204" pitchFamily="34" charset="0"/>
                <a:ea typeface="SimSun" panose="02010600030101010101" pitchFamily="2" charset="-122"/>
                <a:cs typeface="Arial" panose="020B0604020202020204" pitchFamily="34" charset="0"/>
              </a:rPr>
              <a:t>đến</a:t>
            </a:r>
            <a:r>
              <a:rPr lang="en-US" sz="1800" dirty="0">
                <a:effectLst/>
                <a:latin typeface="Arial" panose="020B0604020202020204" pitchFamily="34" charset="0"/>
                <a:ea typeface="SimSun" panose="02010600030101010101" pitchFamily="2" charset="-122"/>
                <a:cs typeface="Arial" panose="020B0604020202020204" pitchFamily="34" charset="0"/>
              </a:rPr>
              <a:t> Dashboard Sinh </a:t>
            </a:r>
            <a:r>
              <a:rPr lang="en-US" sz="1800" dirty="0" err="1">
                <a:effectLst/>
                <a:latin typeface="Arial" panose="020B0604020202020204" pitchFamily="34" charset="0"/>
                <a:ea typeface="SimSun" panose="02010600030101010101" pitchFamily="2" charset="-122"/>
                <a:cs typeface="Arial" panose="020B0604020202020204" pitchFamily="34" charset="0"/>
              </a:rPr>
              <a:t>viên</a:t>
            </a:r>
            <a:r>
              <a:rPr lang="en-US" sz="1800" dirty="0">
                <a:effectLst/>
                <a:latin typeface="Arial" panose="020B0604020202020204" pitchFamily="34" charset="0"/>
                <a:ea typeface="SimSun" panose="02010600030101010101" pitchFamily="2" charset="-122"/>
                <a:cs typeface="Arial" panose="020B0604020202020204" pitchFamily="34" charset="0"/>
              </a:rPr>
              <a:t>.</a:t>
            </a:r>
            <a:endParaRPr lang="en-US" dirty="0">
              <a:latin typeface="Arial" panose="020B0604020202020204" pitchFamily="34" charset="0"/>
            </a:endParaRPr>
          </a:p>
        </p:txBody>
      </p:sp>
    </p:spTree>
    <p:extLst>
      <p:ext uri="{BB962C8B-B14F-4D97-AF65-F5344CB8AC3E}">
        <p14:creationId xmlns:p14="http://schemas.microsoft.com/office/powerpoint/2010/main" val="4115718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286828"/>
            <a:ext cx="794468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Tổng kết Kết quả Nghiên cứu</a:t>
            </a:r>
            <a:endParaRPr lang="en-US" sz="4450" dirty="0">
              <a:latin typeface="Arial" panose="020B0604020202020204" pitchFamily="34" charset="0"/>
            </a:endParaRPr>
          </a:p>
        </p:txBody>
      </p:sp>
      <p:sp>
        <p:nvSpPr>
          <p:cNvPr id="3" name="Shape 1"/>
          <p:cNvSpPr/>
          <p:nvPr/>
        </p:nvSpPr>
        <p:spPr>
          <a:xfrm>
            <a:off x="793790" y="2449235"/>
            <a:ext cx="510302" cy="510302"/>
          </a:xfrm>
          <a:prstGeom prst="roundRect">
            <a:avLst>
              <a:gd name="adj" fmla="val 18669"/>
            </a:avLst>
          </a:prstGeom>
          <a:solidFill>
            <a:srgbClr val="DADBF1"/>
          </a:solidFill>
          <a:ln w="7620">
            <a:solidFill>
              <a:srgbClr val="C0C1D7"/>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60" y="2534245"/>
            <a:ext cx="340162" cy="340162"/>
          </a:xfrm>
          <a:prstGeom prst="rect">
            <a:avLst/>
          </a:prstGeom>
        </p:spPr>
      </p:pic>
      <p:sp>
        <p:nvSpPr>
          <p:cNvPr id="5" name="Text 2"/>
          <p:cNvSpPr/>
          <p:nvPr/>
        </p:nvSpPr>
        <p:spPr>
          <a:xfrm>
            <a:off x="1530906" y="2527102"/>
            <a:ext cx="294120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Phân hệ Quản trị viên</a:t>
            </a:r>
            <a:endParaRPr lang="en-US" sz="2200" dirty="0">
              <a:latin typeface="Arial" panose="020B0604020202020204" pitchFamily="34" charset="0"/>
            </a:endParaRPr>
          </a:p>
        </p:txBody>
      </p:sp>
      <p:sp>
        <p:nvSpPr>
          <p:cNvPr id="6" name="Text 3"/>
          <p:cNvSpPr/>
          <p:nvPr/>
        </p:nvSpPr>
        <p:spPr>
          <a:xfrm>
            <a:off x="1530906" y="3017520"/>
            <a:ext cx="564249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Quản lý toàn bộ hệ thống: Chương trình đào tạo, Khóa đào tạo, Phân công giảng dạy, Tài khoản người dùng. Quản lý PO, PLO, Môn học, Ma trận liên kết. Giao diện trực quan, dễ sử dụng</a:t>
            </a:r>
            <a:endParaRPr lang="en-US" sz="1750" dirty="0">
              <a:latin typeface="Arial" panose="020B0604020202020204" pitchFamily="34" charset="0"/>
            </a:endParaRPr>
          </a:p>
        </p:txBody>
      </p:sp>
      <p:sp>
        <p:nvSpPr>
          <p:cNvPr id="7" name="Shape 4"/>
          <p:cNvSpPr/>
          <p:nvPr/>
        </p:nvSpPr>
        <p:spPr>
          <a:xfrm>
            <a:off x="7456884" y="2449235"/>
            <a:ext cx="510302" cy="510302"/>
          </a:xfrm>
          <a:prstGeom prst="roundRect">
            <a:avLst>
              <a:gd name="adj" fmla="val 18669"/>
            </a:avLst>
          </a:prstGeom>
          <a:solidFill>
            <a:srgbClr val="DADBF1"/>
          </a:solidFill>
          <a:ln w="7620">
            <a:solidFill>
              <a:srgbClr val="C0C1D7"/>
            </a:solidFill>
            <a:prstDash val="solid"/>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41955" y="2534245"/>
            <a:ext cx="340162" cy="340162"/>
          </a:xfrm>
          <a:prstGeom prst="rect">
            <a:avLst/>
          </a:prstGeom>
        </p:spPr>
      </p:pic>
      <p:sp>
        <p:nvSpPr>
          <p:cNvPr id="9" name="Text 5"/>
          <p:cNvSpPr/>
          <p:nvPr/>
        </p:nvSpPr>
        <p:spPr>
          <a:xfrm>
            <a:off x="8194000" y="252710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Phân hệ Giảng viên</a:t>
            </a:r>
            <a:endParaRPr lang="en-US" sz="2200" dirty="0">
              <a:latin typeface="Arial" panose="020B0604020202020204" pitchFamily="34" charset="0"/>
            </a:endParaRPr>
          </a:p>
        </p:txBody>
      </p:sp>
      <p:sp>
        <p:nvSpPr>
          <p:cNvPr id="10" name="Text 6"/>
          <p:cNvSpPr/>
          <p:nvPr/>
        </p:nvSpPr>
        <p:spPr>
          <a:xfrm>
            <a:off x="8194000" y="3017520"/>
            <a:ext cx="564261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Quản lý khóa học, Ngân hàng câu hỏi, Tạo bài kiểm tra 4 bước. Báo cáo phân tích: Ma trận kiến thức, Chuẩn đầu ra, Xếp loại, So sánh kết quả. Hỗ trợ điều chỉnh phương pháp giảng dạy</a:t>
            </a:r>
            <a:endParaRPr lang="en-US" sz="1750" dirty="0">
              <a:latin typeface="Arial" panose="020B0604020202020204" pitchFamily="34" charset="0"/>
            </a:endParaRPr>
          </a:p>
        </p:txBody>
      </p:sp>
      <p:sp>
        <p:nvSpPr>
          <p:cNvPr id="11" name="Shape 7"/>
          <p:cNvSpPr/>
          <p:nvPr/>
        </p:nvSpPr>
        <p:spPr>
          <a:xfrm>
            <a:off x="793790" y="4922758"/>
            <a:ext cx="510302" cy="510302"/>
          </a:xfrm>
          <a:prstGeom prst="roundRect">
            <a:avLst>
              <a:gd name="adj" fmla="val 18669"/>
            </a:avLst>
          </a:prstGeom>
          <a:solidFill>
            <a:srgbClr val="DADBF1"/>
          </a:solidFill>
          <a:ln w="7620">
            <a:solidFill>
              <a:srgbClr val="C0C1D7"/>
            </a:solidFill>
            <a:prstDash val="solid"/>
          </a:ln>
        </p:spPr>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8860" y="5007769"/>
            <a:ext cx="340162" cy="340162"/>
          </a:xfrm>
          <a:prstGeom prst="rect">
            <a:avLst/>
          </a:prstGeom>
        </p:spPr>
      </p:pic>
      <p:sp>
        <p:nvSpPr>
          <p:cNvPr id="13" name="Text 8"/>
          <p:cNvSpPr/>
          <p:nvPr/>
        </p:nvSpPr>
        <p:spPr>
          <a:xfrm>
            <a:off x="1530906" y="50006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Phân hệ Sinh viên</a:t>
            </a:r>
            <a:endParaRPr lang="en-US" sz="2200" dirty="0">
              <a:latin typeface="Arial" panose="020B0604020202020204" pitchFamily="34" charset="0"/>
            </a:endParaRPr>
          </a:p>
        </p:txBody>
      </p:sp>
      <p:sp>
        <p:nvSpPr>
          <p:cNvPr id="14" name="Text 9"/>
          <p:cNvSpPr/>
          <p:nvPr/>
        </p:nvSpPr>
        <p:spPr>
          <a:xfrm>
            <a:off x="1530906" y="5491043"/>
            <a:ext cx="564249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Luyện tập và kiểm tra dạng game hóa. Báo cáo phân tích: Dashboard tổng quan, Phân tích chương, Phân tích CĐR. Bảng xếp hạng, Cửa hàng vật phẩm, Hồ sơ cá nhân, Tiến trình thăng cấp</a:t>
            </a:r>
            <a:endParaRPr lang="en-US" sz="1750" dirty="0">
              <a:latin typeface="Arial" panose="020B0604020202020204" pitchFamily="34" charset="0"/>
            </a:endParaRPr>
          </a:p>
        </p:txBody>
      </p:sp>
      <p:sp>
        <p:nvSpPr>
          <p:cNvPr id="15" name="Shape 10"/>
          <p:cNvSpPr/>
          <p:nvPr/>
        </p:nvSpPr>
        <p:spPr>
          <a:xfrm>
            <a:off x="7456884" y="4922758"/>
            <a:ext cx="510302" cy="510302"/>
          </a:xfrm>
          <a:prstGeom prst="roundRect">
            <a:avLst>
              <a:gd name="adj" fmla="val 18669"/>
            </a:avLst>
          </a:prstGeom>
          <a:solidFill>
            <a:srgbClr val="DADBF1"/>
          </a:solidFill>
          <a:ln w="7620">
            <a:solidFill>
              <a:srgbClr val="C0C1D7"/>
            </a:solidFill>
            <a:prstDash val="solid"/>
          </a:ln>
        </p:spPr>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41955" y="5007769"/>
            <a:ext cx="340162" cy="340162"/>
          </a:xfrm>
          <a:prstGeom prst="rect">
            <a:avLst/>
          </a:prstGeom>
        </p:spPr>
      </p:pic>
      <p:sp>
        <p:nvSpPr>
          <p:cNvPr id="17" name="Text 11"/>
          <p:cNvSpPr/>
          <p:nvPr/>
        </p:nvSpPr>
        <p:spPr>
          <a:xfrm>
            <a:off x="8194000" y="5000625"/>
            <a:ext cx="3213497"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Công nghệ &amp; Tính năng</a:t>
            </a:r>
            <a:endParaRPr lang="en-US" sz="2200" dirty="0">
              <a:latin typeface="Arial" panose="020B0604020202020204" pitchFamily="34" charset="0"/>
            </a:endParaRPr>
          </a:p>
        </p:txBody>
      </p:sp>
      <p:sp>
        <p:nvSpPr>
          <p:cNvPr id="18" name="Text 12"/>
          <p:cNvSpPr/>
          <p:nvPr/>
        </p:nvSpPr>
        <p:spPr>
          <a:xfrm>
            <a:off x="8194000" y="5491043"/>
            <a:ext cx="564261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Next.js, Tailwind CSS, Shadcn/ui, TanStack Query, Phaser.js, Chart.js, Socket.IO. Giao diện responsive, hiệu suất cao, bảo mật, khả năng mở rộng. Trực quan hóa dữ liệu với biểu đồ đa dạng</a:t>
            </a:r>
            <a:endParaRPr lang="en-US" sz="175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695087"/>
            <a:ext cx="128870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Arial" panose="020B0604020202020204" pitchFamily="34" charset="0"/>
                <a:ea typeface="Inter Bold" pitchFamily="34" charset="-122"/>
                <a:cs typeface="Arial" panose="020B0604020202020204" pitchFamily="34" charset="0"/>
              </a:rPr>
              <a:t>KẾT LUẬN VÀ HƯỚNG PHÁT TRIỂN</a:t>
            </a:r>
            <a:endParaRPr lang="en-US" sz="4450" dirty="0">
              <a:latin typeface="Arial" panose="020B0604020202020204" pitchFamily="34" charset="0"/>
            </a:endParaRPr>
          </a:p>
        </p:txBody>
      </p:sp>
      <p:sp>
        <p:nvSpPr>
          <p:cNvPr id="3" name="Shape 1"/>
          <p:cNvSpPr/>
          <p:nvPr/>
        </p:nvSpPr>
        <p:spPr>
          <a:xfrm>
            <a:off x="793790" y="1857494"/>
            <a:ext cx="6407944" cy="5677019"/>
          </a:xfrm>
          <a:prstGeom prst="roundRect">
            <a:avLst>
              <a:gd name="adj" fmla="val 2577"/>
            </a:avLst>
          </a:prstGeom>
          <a:solidFill>
            <a:srgbClr val="FFFFFF"/>
          </a:solidFill>
          <a:ln w="30480">
            <a:solidFill>
              <a:srgbClr val="C0C1D7"/>
            </a:solidFill>
            <a:prstDash val="solid"/>
          </a:ln>
        </p:spPr>
      </p:sp>
      <p:sp>
        <p:nvSpPr>
          <p:cNvPr id="4" name="Shape 2"/>
          <p:cNvSpPr/>
          <p:nvPr/>
        </p:nvSpPr>
        <p:spPr>
          <a:xfrm>
            <a:off x="763310" y="1857494"/>
            <a:ext cx="121920" cy="5677019"/>
          </a:xfrm>
          <a:prstGeom prst="roundRect">
            <a:avLst>
              <a:gd name="adj" fmla="val 78139"/>
            </a:avLst>
          </a:prstGeom>
          <a:solidFill>
            <a:srgbClr val="4950BC"/>
          </a:solidFill>
          <a:ln/>
        </p:spPr>
      </p:sp>
      <p:sp>
        <p:nvSpPr>
          <p:cNvPr id="5" name="Text 3"/>
          <p:cNvSpPr/>
          <p:nvPr/>
        </p:nvSpPr>
        <p:spPr>
          <a:xfrm>
            <a:off x="1142524" y="21147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Kết quả Đạt được</a:t>
            </a:r>
            <a:endParaRPr lang="en-US" sz="2200" dirty="0">
              <a:latin typeface="Arial" panose="020B0604020202020204" pitchFamily="34" charset="0"/>
            </a:endParaRPr>
          </a:p>
        </p:txBody>
      </p:sp>
      <p:sp>
        <p:nvSpPr>
          <p:cNvPr id="6" name="Text 4"/>
          <p:cNvSpPr/>
          <p:nvPr/>
        </p:nvSpPr>
        <p:spPr>
          <a:xfrm>
            <a:off x="1142524" y="2605207"/>
            <a:ext cx="580191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Xây dựng giao diện frontend hiện đại, trực quan, dễ sử dụng, phân biệt rõ ba vai trò: quản trị viên, giảng viên, sinh viên</a:t>
            </a:r>
            <a:endParaRPr lang="en-US" sz="1750" dirty="0">
              <a:latin typeface="Arial" panose="020B0604020202020204" pitchFamily="34" charset="0"/>
            </a:endParaRPr>
          </a:p>
        </p:txBody>
      </p:sp>
      <p:sp>
        <p:nvSpPr>
          <p:cNvPr id="7" name="Text 5"/>
          <p:cNvSpPr/>
          <p:nvPr/>
        </p:nvSpPr>
        <p:spPr>
          <a:xfrm>
            <a:off x="1142524" y="3773210"/>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Tích hợp yếu tố trò chơi: hệ thống điểm thưởng, bảng xếp hạng, thành tích cá nhân, phần thưởng</a:t>
            </a:r>
            <a:endParaRPr lang="en-US" sz="1750" dirty="0">
              <a:latin typeface="Arial" panose="020B0604020202020204" pitchFamily="34" charset="0"/>
            </a:endParaRPr>
          </a:p>
        </p:txBody>
      </p:sp>
      <p:sp>
        <p:nvSpPr>
          <p:cNvPr id="8" name="Text 6"/>
          <p:cNvSpPr/>
          <p:nvPr/>
        </p:nvSpPr>
        <p:spPr>
          <a:xfrm>
            <a:off x="1142524" y="4578310"/>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Hỗ trợ chức năng quản lý mạnh mẽ cho cả ba vai trò người dùng</a:t>
            </a:r>
            <a:endParaRPr lang="en-US" sz="1750" dirty="0">
              <a:latin typeface="Arial" panose="020B0604020202020204" pitchFamily="34" charset="0"/>
            </a:endParaRPr>
          </a:p>
        </p:txBody>
      </p:sp>
      <p:sp>
        <p:nvSpPr>
          <p:cNvPr id="9" name="Text 7"/>
          <p:cNvSpPr/>
          <p:nvPr/>
        </p:nvSpPr>
        <p:spPr>
          <a:xfrm>
            <a:off x="1142524" y="5383411"/>
            <a:ext cx="580191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Áp dụng công nghệ hiện đại: Next.js, Tailwind CSS, Shadcn/ui, Chart.js, TanStack Query, Socket.IO, Phaser.js</a:t>
            </a:r>
            <a:endParaRPr lang="en-US" sz="1750" dirty="0">
              <a:latin typeface="Arial" panose="020B0604020202020204" pitchFamily="34" charset="0"/>
            </a:endParaRPr>
          </a:p>
        </p:txBody>
      </p:sp>
      <p:sp>
        <p:nvSpPr>
          <p:cNvPr id="10" name="Text 8"/>
          <p:cNvSpPr/>
          <p:nvPr/>
        </p:nvSpPr>
        <p:spPr>
          <a:xfrm>
            <a:off x="1142524" y="6551414"/>
            <a:ext cx="58019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Đảm bảo khả năng mở rộng, bảo mật, hiệu năng tối ưu, trải nghiệm đồng nhất trên nhiều thiết bị</a:t>
            </a:r>
            <a:endParaRPr lang="en-US" sz="1750" dirty="0">
              <a:latin typeface="Arial" panose="020B0604020202020204" pitchFamily="34" charset="0"/>
            </a:endParaRPr>
          </a:p>
        </p:txBody>
      </p:sp>
      <p:sp>
        <p:nvSpPr>
          <p:cNvPr id="11" name="Shape 9"/>
          <p:cNvSpPr/>
          <p:nvPr/>
        </p:nvSpPr>
        <p:spPr>
          <a:xfrm>
            <a:off x="7428548" y="1857494"/>
            <a:ext cx="6408063" cy="5677019"/>
          </a:xfrm>
          <a:prstGeom prst="roundRect">
            <a:avLst>
              <a:gd name="adj" fmla="val 2577"/>
            </a:avLst>
          </a:prstGeom>
          <a:solidFill>
            <a:srgbClr val="FFFFFF"/>
          </a:solidFill>
          <a:ln w="30480">
            <a:solidFill>
              <a:srgbClr val="C0C1D7"/>
            </a:solidFill>
            <a:prstDash val="solid"/>
          </a:ln>
        </p:spPr>
      </p:sp>
      <p:sp>
        <p:nvSpPr>
          <p:cNvPr id="12" name="Shape 10"/>
          <p:cNvSpPr/>
          <p:nvPr/>
        </p:nvSpPr>
        <p:spPr>
          <a:xfrm>
            <a:off x="7398067" y="1857494"/>
            <a:ext cx="121920" cy="5677019"/>
          </a:xfrm>
          <a:prstGeom prst="roundRect">
            <a:avLst>
              <a:gd name="adj" fmla="val 78139"/>
            </a:avLst>
          </a:prstGeom>
          <a:solidFill>
            <a:srgbClr val="4950BC"/>
          </a:solidFill>
          <a:ln/>
        </p:spPr>
      </p:sp>
      <p:sp>
        <p:nvSpPr>
          <p:cNvPr id="13" name="Text 11"/>
          <p:cNvSpPr/>
          <p:nvPr/>
        </p:nvSpPr>
        <p:spPr>
          <a:xfrm>
            <a:off x="7777282" y="21147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Hướng Phát triển</a:t>
            </a:r>
            <a:endParaRPr lang="en-US" sz="2200" dirty="0">
              <a:latin typeface="Arial" panose="020B0604020202020204" pitchFamily="34" charset="0"/>
            </a:endParaRPr>
          </a:p>
        </p:txBody>
      </p:sp>
      <p:sp>
        <p:nvSpPr>
          <p:cNvPr id="14" name="Text 12"/>
          <p:cNvSpPr/>
          <p:nvPr/>
        </p:nvSpPr>
        <p:spPr>
          <a:xfrm>
            <a:off x="7777282" y="2605207"/>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Mở rộng các tính năng mới: tích hợp AI, nhiều loại câu hỏi (trắc nghiệm, tự luận, kéo thả, ghép nối)</a:t>
            </a:r>
            <a:endParaRPr lang="en-US" sz="1750" dirty="0">
              <a:latin typeface="Arial" panose="020B0604020202020204" pitchFamily="34" charset="0"/>
            </a:endParaRPr>
          </a:p>
        </p:txBody>
      </p:sp>
      <p:sp>
        <p:nvSpPr>
          <p:cNvPr id="15" name="Text 13"/>
          <p:cNvSpPr/>
          <p:nvPr/>
        </p:nvSpPr>
        <p:spPr>
          <a:xfrm>
            <a:off x="7777282" y="3410307"/>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Tối ưu hóa trải nghiệm người dùng: giao diện thân thiện hơn, tốc độ tải nhanh hơn</a:t>
            </a:r>
            <a:endParaRPr lang="en-US" sz="1750" dirty="0">
              <a:latin typeface="Arial" panose="020B0604020202020204" pitchFamily="34" charset="0"/>
            </a:endParaRPr>
          </a:p>
        </p:txBody>
      </p:sp>
      <p:sp>
        <p:nvSpPr>
          <p:cNvPr id="16" name="Text 14"/>
          <p:cNvSpPr/>
          <p:nvPr/>
        </p:nvSpPr>
        <p:spPr>
          <a:xfrm>
            <a:off x="7777282" y="4215408"/>
            <a:ext cx="5802035"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Phát triển ứng dụng mobile native cho iOS/Android</a:t>
            </a:r>
            <a:endParaRPr lang="en-US" sz="1750" dirty="0">
              <a:latin typeface="Arial" panose="020B0604020202020204" pitchFamily="34" charset="0"/>
            </a:endParaRPr>
          </a:p>
        </p:txBody>
      </p:sp>
      <p:sp>
        <p:nvSpPr>
          <p:cNvPr id="17" name="Text 15"/>
          <p:cNvSpPr/>
          <p:nvPr/>
        </p:nvSpPr>
        <p:spPr>
          <a:xfrm>
            <a:off x="7777282" y="4657606"/>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Tích hợp thêm các công cụ phân tích nâng cao, báo cáo chi tiết hơn</a:t>
            </a:r>
            <a:endParaRPr lang="en-US" sz="1750" dirty="0">
              <a:latin typeface="Arial" panose="020B0604020202020204" pitchFamily="34" charset="0"/>
            </a:endParaRPr>
          </a:p>
        </p:txBody>
      </p:sp>
      <p:sp>
        <p:nvSpPr>
          <p:cNvPr id="18" name="Text 16"/>
          <p:cNvSpPr/>
          <p:nvPr/>
        </p:nvSpPr>
        <p:spPr>
          <a:xfrm>
            <a:off x="7777282" y="5462707"/>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Mở rộng hệ thống trò chơi với nhiều mini-game, thử thách mới</a:t>
            </a:r>
            <a:endParaRPr lang="en-US" sz="1750" dirty="0">
              <a:latin typeface="Arial" panose="020B0604020202020204" pitchFamily="34" charset="0"/>
            </a:endParaRPr>
          </a:p>
        </p:txBody>
      </p:sp>
      <p:sp>
        <p:nvSpPr>
          <p:cNvPr id="19" name="Text 17"/>
          <p:cNvSpPr/>
          <p:nvPr/>
        </p:nvSpPr>
        <p:spPr>
          <a:xfrm>
            <a:off x="7777282" y="6267807"/>
            <a:ext cx="5802035"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Arial" panose="020B0604020202020204" pitchFamily="34" charset="0"/>
                <a:ea typeface="Inter" pitchFamily="34" charset="-122"/>
                <a:cs typeface="Arial" panose="020B0604020202020204" pitchFamily="34" charset="0"/>
              </a:rPr>
              <a:t>Hỗ trợ đa ngôn ngữ, tích hợp với các nền tảng học tập khác</a:t>
            </a:r>
            <a:endParaRPr lang="en-US" sz="175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21</TotalTime>
  <Words>2641</Words>
  <Application>Microsoft Office PowerPoint</Application>
  <PresentationFormat>Custom</PresentationFormat>
  <Paragraphs>161</Paragraphs>
  <Slides>15</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Wingdings 3</vt:lpstr>
      <vt:lpstr>Arial</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Tomi Sakae</cp:lastModifiedBy>
  <cp:revision>7</cp:revision>
  <dcterms:created xsi:type="dcterms:W3CDTF">2025-12-27T14:51:57Z</dcterms:created>
  <dcterms:modified xsi:type="dcterms:W3CDTF">2025-12-28T11:18:20Z</dcterms:modified>
</cp:coreProperties>
</file>